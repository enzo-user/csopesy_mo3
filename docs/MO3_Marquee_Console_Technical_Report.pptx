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Requested (set_speed)</c:v>
                </c:pt>
              </c:strCache>
            </c:strRef>
          </c:tx>
          <c:spPr>
            <a:solidFill>
              <a:srgbClr val="9AA4B1"/>
            </a:solidFill>
            <a:ln w="25400" cap="flat">
              <a:solidFill>
                <a:srgbClr val="9AA4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AA4B1"/>
              </a:solidFill>
              <a:ln w="9525" cap="flat">
                <a:solidFill>
                  <a:srgbClr val="9AA4B1"/>
                </a:solidFill>
                <a:prstDash val="solid"/>
                <a:round/>
              </a:ln>
              <a:effectLst/>
            </c:spPr>
          </c:marker>
          <c:cat>
            <c:multiLvlStrRef>
              <c:f>Sheet1!$A$2:$A$9</c:f>
              <c:multiLvlStrCache>
                <c:ptCount val="8"/>
                <c:lvl>
                  <c:pt idx="0">
                    <c:v>1</c:v>
                  </c:pt>
                  <c:pt idx="1">
                    <c:v>5</c:v>
                  </c:pt>
                  <c:pt idx="2">
                    <c:v>10</c:v>
                  </c:pt>
                  <c:pt idx="3">
                    <c:v>16</c:v>
                  </c:pt>
                  <c:pt idx="4">
                    <c:v>20</c:v>
                  </c:pt>
                  <c:pt idx="5">
                    <c:v>33</c:v>
                  </c:pt>
                  <c:pt idx="6">
                    <c:v>50</c:v>
                  </c:pt>
                  <c:pt idx="7">
                    <c:v>100</c:v>
                  </c:pt>
                </c:lvl>
              </c:multiLvlStrCache>
            </c:multiLvlStrRef>
          </c:cat>
          <c:val>
            <c:numRef>
              <c:f>Sheet1!$B$2:$B$9</c:f>
              <c:numCache>
                <c:formatCode>General</c:formatCode>
                <c:ptCount val="8"/>
                <c:pt idx="0">
                  <c:v>1</c:v>
                </c:pt>
                <c:pt idx="1">
                  <c:v>5</c:v>
                </c:pt>
                <c:pt idx="2">
                  <c:v>10</c:v>
                </c:pt>
                <c:pt idx="3">
                  <c:v>16</c:v>
                </c:pt>
                <c:pt idx="4">
                  <c:v>20</c:v>
                </c:pt>
                <c:pt idx="5">
                  <c:v>33</c:v>
                </c:pt>
                <c:pt idx="6">
                  <c:v>50</c:v>
                </c:pt>
                <c:pt idx="7">
                  <c:v>100</c:v>
                </c:pt>
              </c:numCache>
            </c:numRef>
          </c:val>
          <c:smooth val="0"/>
        </c:ser>
        <c:ser>
          <c:idx val="1"/>
          <c:order val="1"/>
          <c:tx>
            <c:strRef>
              <c:f>Sheet1!$C$1</c:f>
              <c:strCache>
                <c:ptCount val="1"/>
                <c:pt idx="0">
                  <c:v>Measured average interval</c:v>
                </c:pt>
              </c:strCache>
            </c:strRef>
          </c:tx>
          <c:spPr>
            <a:solidFill>
              <a:srgbClr val="E08E0B"/>
            </a:solidFill>
            <a:ln w="25400" cap="flat">
              <a:solidFill>
                <a:srgbClr val="E08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08E0B"/>
              </a:solidFill>
              <a:ln w="9525" cap="flat">
                <a:solidFill>
                  <a:srgbClr val="E08E0B"/>
                </a:solidFill>
                <a:prstDash val="solid"/>
                <a:round/>
              </a:ln>
              <a:effectLst/>
            </c:spPr>
          </c:marker>
          <c:cat>
            <c:multiLvlStrRef>
              <c:f>Sheet1!$A$2:$A$9</c:f>
              <c:multiLvlStrCache>
                <c:ptCount val="8"/>
                <c:lvl>
                  <c:pt idx="0">
                    <c:v>1</c:v>
                  </c:pt>
                  <c:pt idx="1">
                    <c:v>5</c:v>
                  </c:pt>
                  <c:pt idx="2">
                    <c:v>10</c:v>
                  </c:pt>
                  <c:pt idx="3">
                    <c:v>16</c:v>
                  </c:pt>
                  <c:pt idx="4">
                    <c:v>20</c:v>
                  </c:pt>
                  <c:pt idx="5">
                    <c:v>33</c:v>
                  </c:pt>
                  <c:pt idx="6">
                    <c:v>50</c:v>
                  </c:pt>
                  <c:pt idx="7">
                    <c:v>100</c:v>
                  </c:pt>
                </c:lvl>
              </c:multiLvlStrCache>
            </c:multiLvlStrRef>
          </c:cat>
          <c:val>
            <c:numRef>
              <c:f>Sheet1!$C$2:$C$9</c:f>
              <c:numCache>
                <c:formatCode>General</c:formatCode>
                <c:ptCount val="8"/>
                <c:pt idx="0">
                  <c:v>15.62</c:v>
                </c:pt>
                <c:pt idx="1">
                  <c:v>15.61</c:v>
                </c:pt>
                <c:pt idx="2">
                  <c:v>15.61</c:v>
                </c:pt>
                <c:pt idx="3">
                  <c:v>16.02</c:v>
                </c:pt>
                <c:pt idx="4">
                  <c:v>20.02</c:v>
                </c:pt>
                <c:pt idx="5">
                  <c:v>33.03</c:v>
                </c:pt>
                <c:pt idx="6">
                  <c:v>50.04</c:v>
                </c:pt>
                <c:pt idx="7">
                  <c:v>100.1</c:v>
                </c:pt>
              </c:numCache>
            </c:numRef>
          </c:val>
          <c:smooth val="0"/>
        </c:ser>
        <c:ser>
          <c:idx val="2"/>
          <c:order val="2"/>
          <c:tx>
            <c:strRef>
              <c:f>Sheet1!$D$1</c:f>
              <c:strCache>
                <c:ptCount val="1"/>
                <c:pt idx="0">
                  <c:v>Measured longest interval</c:v>
                </c:pt>
              </c:strCache>
            </c:strRef>
          </c:tx>
          <c:spPr>
            <a:solidFill>
              <a:srgbClr val="1D232B"/>
            </a:solidFill>
            <a:ln w="25400" cap="flat">
              <a:solidFill>
                <a:srgbClr val="1D23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D232B"/>
              </a:solidFill>
              <a:ln w="9525" cap="flat">
                <a:solidFill>
                  <a:srgbClr val="1D232B"/>
                </a:solidFill>
                <a:prstDash val="solid"/>
                <a:round/>
              </a:ln>
              <a:effectLst/>
            </c:spPr>
          </c:marker>
          <c:cat>
            <c:multiLvlStrRef>
              <c:f>Sheet1!$A$2:$A$9</c:f>
              <c:multiLvlStrCache>
                <c:ptCount val="8"/>
                <c:lvl>
                  <c:pt idx="0">
                    <c:v>1</c:v>
                  </c:pt>
                  <c:pt idx="1">
                    <c:v>5</c:v>
                  </c:pt>
                  <c:pt idx="2">
                    <c:v>10</c:v>
                  </c:pt>
                  <c:pt idx="3">
                    <c:v>16</c:v>
                  </c:pt>
                  <c:pt idx="4">
                    <c:v>20</c:v>
                  </c:pt>
                  <c:pt idx="5">
                    <c:v>33</c:v>
                  </c:pt>
                  <c:pt idx="6">
                    <c:v>50</c:v>
                  </c:pt>
                  <c:pt idx="7">
                    <c:v>100</c:v>
                  </c:pt>
                </c:lvl>
              </c:multiLvlStrCache>
            </c:multiLvlStrRef>
          </c:cat>
          <c:val>
            <c:numRef>
              <c:f>Sheet1!$D$2:$D$9</c:f>
              <c:numCache>
                <c:formatCode>General</c:formatCode>
                <c:ptCount val="8"/>
                <c:pt idx="0">
                  <c:v>16.78</c:v>
                </c:pt>
                <c:pt idx="1">
                  <c:v>16.75</c:v>
                </c:pt>
                <c:pt idx="2">
                  <c:v>16.85</c:v>
                </c:pt>
                <c:pt idx="3">
                  <c:v>31.68</c:v>
                </c:pt>
                <c:pt idx="4">
                  <c:v>32.84</c:v>
                </c:pt>
                <c:pt idx="5">
                  <c:v>47.92</c:v>
                </c:pt>
                <c:pt idx="6">
                  <c:v>63.66</c:v>
                </c:pt>
                <c:pt idx="7">
                  <c:v>110.84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set_speed (ms)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Arial"/>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E3E7EC"/>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time between frames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Worst-case typing delay (ms)</c:v>
                </c:pt>
              </c:strCache>
            </c:strRef>
          </c:tx>
          <c:spPr>
            <a:solidFill>
              <a:srgbClr val="E08E0B"/>
            </a:solidFill>
            <a:effectLst/>
          </c:spPr>
          <c:invertIfNegative val="0"/>
          <c:dLbls>
            <c:numFmt formatCode="0" sourceLinked="0"/>
            <c:txPr>
              <a:bodyPr/>
              <a:lstStyle/>
              <a:p>
                <a:pPr>
                  <a:defRPr b="0" i="0" strike="noStrike" sz="1000" u="none">
                    <a:solidFill>
                      <a:srgbClr val="1D232B"/>
                    </a:solidFill>
                    <a:latin typeface="Arial"/>
                  </a:defRPr>
                </a:pPr>
              </a:p>
            </c:txPr>
            <c:dLblPos val="outEnd"/>
            <c:showLegendKey val="0"/>
            <c:showVal val="1"/>
            <c:showCatName val="0"/>
            <c:showSerName val="0"/>
            <c:showPercent val="0"/>
            <c:showBubbleSize val="0"/>
            <c:showLeaderLines val="0"/>
          </c:dLbls>
          <c:cat>
            <c:multiLvlStrRef>
              <c:f>Sheet1!$A$2:$A$10</c:f>
              <c:multiLvlStrCache>
                <c:ptCount val="9"/>
                <c:lvl>
                  <c:pt idx="0">
                    <c:v>1</c:v>
                  </c:pt>
                  <c:pt idx="1">
                    <c:v>5</c:v>
                  </c:pt>
                  <c:pt idx="2">
                    <c:v>10</c:v>
                  </c:pt>
                  <c:pt idx="3">
                    <c:v>15</c:v>
                  </c:pt>
                  <c:pt idx="4">
                    <c:v>20</c:v>
                  </c:pt>
                  <c:pt idx="5">
                    <c:v>33</c:v>
                  </c:pt>
                  <c:pt idx="6">
                    <c:v>50</c:v>
                  </c:pt>
                  <c:pt idx="7">
                    <c:v>100</c:v>
                  </c:pt>
                  <c:pt idx="8">
                    <c:v>200</c:v>
                  </c:pt>
                </c:lvl>
              </c:multiLvlStrCache>
            </c:multiLvlStrRef>
          </c:cat>
          <c:val>
            <c:numRef>
              <c:f>Sheet1!$B$2:$B$10</c:f>
              <c:numCache>
                <c:formatCode>General</c:formatCode>
                <c:ptCount val="9"/>
                <c:pt idx="0">
                  <c:v>17.02</c:v>
                </c:pt>
                <c:pt idx="1">
                  <c:v>16.91</c:v>
                </c:pt>
                <c:pt idx="2">
                  <c:v>17.03</c:v>
                </c:pt>
                <c:pt idx="3">
                  <c:v>31.37</c:v>
                </c:pt>
                <c:pt idx="4">
                  <c:v>33.3</c:v>
                </c:pt>
                <c:pt idx="5">
                  <c:v>48.22</c:v>
                </c:pt>
                <c:pt idx="6">
                  <c:v>64.01</c:v>
                </c:pt>
                <c:pt idx="7">
                  <c:v>111.94</c:v>
                </c:pt>
                <c:pt idx="8">
                  <c:v>215.23</c:v>
                </c:pt>
              </c:numCache>
            </c:numRef>
          </c:val>
        </c:ser>
        <c:dLbls>
          <c:numFmt formatCode="0" sourceLinked="0"/>
          <c:txPr>
            <a:bodyPr/>
            <a:lstStyle/>
            <a:p>
              <a:pPr>
                <a:defRPr b="0" i="0" strike="noStrike" sz="1000" u="none">
                  <a:solidFill>
                    <a:srgbClr val="1D232B"/>
                  </a:solidFill>
                  <a:latin typeface="Arial"/>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~100 ms: delay becomes noticeable</c:v>
                </c:pt>
              </c:strCache>
            </c:strRef>
          </c:tx>
          <c:spPr>
            <a:solidFill>
              <a:srgbClr val="1D232B"/>
            </a:solidFill>
            <a:ln w="19050" cap="flat">
              <a:solidFill>
                <a:srgbClr val="1D232B"/>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D232B"/>
              </a:solidFill>
              <a:ln w="9525" cap="flat">
                <a:solidFill>
                  <a:srgbClr val="1D232B"/>
                </a:solidFill>
                <a:prstDash val="solid"/>
                <a:round/>
              </a:ln>
              <a:effectLst/>
            </c:spPr>
          </c:marker>
          <c:cat>
            <c:multiLvlStrRef>
              <c:f>Sheet1!$A$2:$A$10</c:f>
              <c:multiLvlStrCache>
                <c:ptCount val="9"/>
                <c:lvl>
                  <c:pt idx="0">
                    <c:v>1</c:v>
                  </c:pt>
                  <c:pt idx="1">
                    <c:v>5</c:v>
                  </c:pt>
                  <c:pt idx="2">
                    <c:v>10</c:v>
                  </c:pt>
                  <c:pt idx="3">
                    <c:v>15</c:v>
                  </c:pt>
                  <c:pt idx="4">
                    <c:v>20</c:v>
                  </c:pt>
                  <c:pt idx="5">
                    <c:v>33</c:v>
                  </c:pt>
                  <c:pt idx="6">
                    <c:v>50</c:v>
                  </c:pt>
                  <c:pt idx="7">
                    <c:v>100</c:v>
                  </c:pt>
                  <c:pt idx="8">
                    <c:v>200</c:v>
                  </c:pt>
                </c:lvl>
              </c:multiLvlStrCache>
            </c:multiLvlStrRef>
          </c:cat>
          <c:val>
            <c:numRef>
              <c:f>Sheet1!$C$2:$C$10</c:f>
              <c:numCache>
                <c:formatCode>General</c:formatCode>
                <c:ptCount val="9"/>
                <c:pt idx="0">
                  <c:v>100</c:v>
                </c:pt>
                <c:pt idx="1">
                  <c:v>100</c:v>
                </c:pt>
                <c:pt idx="2">
                  <c:v>100</c:v>
                </c:pt>
                <c:pt idx="3">
                  <c:v>100</c:v>
                </c:pt>
                <c:pt idx="4">
                  <c:v>100</c:v>
                </c:pt>
                <c:pt idx="5">
                  <c:v>100</c:v>
                </c:pt>
                <c:pt idx="6">
                  <c:v>100</c:v>
                </c:pt>
                <c:pt idx="7">
                  <c:v>100</c:v>
                </c:pt>
                <c:pt idx="8">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set_poll (ms)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Arial"/>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3E7EC"/>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longest wait before a key shows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Marquee Console, CSOPESY MO3 technical report. The banner is drawn with the same ascii_big.txt font and the same crop-plus-kerning rule the program uses. The deck follows the quiz's five topics: console UI, command interpreter, display, marquee animation logic, and the refresh-rate versus polling-rate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class per job. main() creates a single MarqueeConsole, which owns everything else in destruction order: the marquee thread is joined before the Console restores the window. Two threads run: the console thread (input and commands) and the marquee thread (animation). The Windows-specific code is isolated in three units, so Config, AsciiFont, Metrics and Text are covered by a portable smoke test (56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is a transcript, not a redrawn menu: the header prints once, then every prompt, command and reply scrolls upward like a normal shell. Input is read one key at a time instead of with std::getline, because a blocking read would freeze the console thread; the prompt line is repainted after every key. The screen on the left is the program's actual output, read back from the console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recognition happens in two places. read_command_line() turns keystrokes into a line; execute() trims it, splits at the first whitespace into command and argument, and compares the command with std::string equality. set_text keeps everything after the command, so text with spaces survives. set_speed accepts only whole positive numbers of milliseconds. Every row in the table was checked against the running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 is split into two regions of one window. The ANSI scroll region keeps all transcript scrolling above the marquee, and the marquee thread paints its eight rows with absolute cursor moves wrapped in save/restore, so typing continues where the user left it. Both threads write through the same mutex, which prevents interleaved escape sequences, the main cause of garbled output in multi-threaded consoles. The screen shown is the program's real buffer, captured mid-animation.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animation never moves the text itself: it moves a window over a repeating pattern. Each of the eight rendered rows is treated as a ring buffer, and the frame shows the width of the console starting at offset. Incrementing offset scrolls one column to the left and the modulo makes the text wrap around. The thread wakes on a 10 ms tick to react quickly to start, stop and speed changes, but only draws when a frame is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representation: the program is one process with two threads. The console thread owns input and command execution; the marquee thread owns the animation. They communicate only through the fields in the table, each either atomic or guarded by a mutex, and every write to std::cout goes through one lock. Scheduling: neither thread busy-waits. Each sleeps and the Windows scheduler wakes it on its timer tick, about 15.6 ms by default. That tick sets the floor for both the refresh rate and the polling rate, as the next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knobs belong to different threads, so the goal is the smoothest marquee that never makes typing feel late. The stats command reports what actually happened rather than what was requested. Each run changed one value and held the other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Requested versus measured frame interval. From 33 ms up the average matches the setting almost exactly and no frames are late. Below about 16 ms the line goes flat: 1, 5 and 10 ms all produce a frame every 15.6 ms because the thread cannot sleep shorter than one Windows timer tick. Between 16 and 20 ms the average is still right, but individual intervals alternate between one and two ticks (15.6 and 31.2 ms), which shows as uneven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Worst-case typing delay is the longest polling sleep plus the time to echo the key, which is always under half a millisecond, so the delay is almost entirely the polling interval. Values up to 15 ms all measure the same 15.5 ms floor. Above that the delay follows the setting rounded up to whole timer ticks: 20 ms becomes 31 ms, 50 becomes 62 ms, and 100 becomes about 109 ms, where typing starts to feel behind. The 500 ms row (515 ms) is left out of the chart to keep its scale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for this hardware: refresh 100 ms and polling 10 ms, the shipped defaults. Refresh can go down to about 33 ms if a faster marquee is wanted. Limits: below 16 ms the refresh rate is capped by the timer tick and frames arrive faster than the console repaints, which is where tearing appears; at 16 to 20 ms the scroll stutters. For polling, the delay becomes noticeable at 100 ms and bursty at 200 ms and above. The tearing zone below 16 ms is inferred from the timing data; confirm it by eye on the machine used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black-box quiz forbids touching the code during a test case; only config.txt may be edited. The program reads marquee text, refresh rate and polling rate from that file at startup and prints the values in force under the header, so the recording itself shows which parameters were used. Both panels are real: the edited file and the output it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requirement from the MO3 specification, the code that implements it, and the result of running it. Every command was exercised against the compiled program, including the error paths: invalid set_speed values, empty set_text, unknown and wrong-case commands, a 150-character line, and set_text while the marquee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16"/>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indent="0" marL="0">
              <a:buNone/>
            </a:pPr>
            <a:r>
              <a:rPr lang="en-US" sz="1300" b="1" spc="200" kern="0" dirty="0">
                <a:solidFill>
                  <a:srgbClr val="F5A524"/>
                </a:solidFill>
                <a:latin typeface="Courier New" pitchFamily="34" charset="0"/>
                <a:ea typeface="Courier New" pitchFamily="34" charset="-122"/>
                <a:cs typeface="Courier New" pitchFamily="34" charset="-120"/>
              </a:rPr>
              <a:t>CSOPESY  ·  MO3  ·  TECHNICAL REPORT</a:t>
            </a:r>
            <a:endParaRPr lang="en-US" sz="1300" dirty="0"/>
          </a:p>
        </p:txBody>
      </p:sp>
      <p:sp>
        <p:nvSpPr>
          <p:cNvPr id="3" name="Text 1"/>
          <p:cNvSpPr txBox="1"/>
          <p:nvPr/>
        </p:nvSpPr>
        <p:spPr>
          <a:xfrm>
            <a:off x="548640" y="960120"/>
            <a:ext cx="8229600" cy="2148840"/>
          </a:xfrm>
          <a:prstGeom prst="rect">
            <a:avLst/>
          </a:prstGeom>
          <a:noFill/>
          <a:ln/>
        </p:spPr>
        <p:txBody>
          <a:bodyPr wrap="square" lIns="0" tIns="0" rIns="0" bIns="0" rtlCol="0" anchor="t"/>
          <a:lstStyle/>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_____   _____   _____  ______   _____   _____  __   __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__ \ /  ___| |  _  | | ___ \ |  ___| /  ___| \ \ / /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  \/ \ `--.  | | | | | |_/ / | |__   \ `--.   \ V /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      `--. \ | | | | |  __/  |  __|   `--. \   \ /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\__/\ /\__/ / \ \_/ / | |     | |___  /\__/ /   | |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\____/ \____/   \___/  \_|     \____/  \____/    \_/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a:t>
            </a:r>
            <a:endParaRPr lang="en-US" sz="1700" dirty="0"/>
          </a:p>
          <a:p>
            <a:pPr indent="0" marL="0">
              <a:lnSpc>
                <a:spcPts val="1900"/>
              </a:lnSpc>
              <a:buNone/>
            </a:pPr>
            <a:r>
              <a:rPr lang="en-US" sz="1700" dirty="0">
                <a:solidFill>
                  <a:srgbClr val="F5A524"/>
                </a:solidFill>
                <a:latin typeface="Courier New" pitchFamily="34" charset="0"/>
                <a:ea typeface="Courier New" pitchFamily="34" charset="-122"/>
                <a:cs typeface="Courier New" pitchFamily="34" charset="-120"/>
              </a:rPr>
              <a:t>                                                        </a:t>
            </a:r>
            <a:endParaRPr lang="en-US" sz="1700" dirty="0"/>
          </a:p>
        </p:txBody>
      </p:sp>
      <p:sp>
        <p:nvSpPr>
          <p:cNvPr id="4" name="Text 2"/>
          <p:cNvSpPr txBox="1"/>
          <p:nvPr/>
        </p:nvSpPr>
        <p:spPr>
          <a:xfrm>
            <a:off x="548640" y="3246120"/>
            <a:ext cx="11094415"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Marquee Console</a:t>
            </a:r>
            <a:endParaRPr lang="en-US" sz="4400" dirty="0"/>
          </a:p>
        </p:txBody>
      </p:sp>
      <p:sp>
        <p:nvSpPr>
          <p:cNvPr id="5" name="Text 3"/>
          <p:cNvSpPr txBox="1"/>
          <p:nvPr/>
        </p:nvSpPr>
        <p:spPr>
          <a:xfrm>
            <a:off x="548640" y="4023360"/>
            <a:ext cx="11094415" cy="365760"/>
          </a:xfrm>
          <a:prstGeom prst="rect">
            <a:avLst/>
          </a:prstGeom>
          <a:noFill/>
          <a:ln/>
        </p:spPr>
        <p:txBody>
          <a:bodyPr wrap="square" lIns="0" tIns="0" rIns="0" bIns="0" rtlCol="0" anchor="ctr"/>
          <a:lstStyle/>
          <a:p>
            <a:pPr indent="0" marL="0">
              <a:buNone/>
            </a:pPr>
            <a:r>
              <a:rPr lang="en-US" sz="1700" dirty="0">
                <a:solidFill>
                  <a:srgbClr val="AEB6C1"/>
                </a:solidFill>
                <a:latin typeface="Calibri" pitchFamily="34" charset="0"/>
                <a:ea typeface="Calibri" pitchFamily="34" charset="-122"/>
                <a:cs typeface="Calibri" pitchFamily="34" charset="-120"/>
              </a:rPr>
              <a:t>Console UI  ·  Command interpreter  ·  Display  ·  Marquee animation  ·  Refresh vs. polling rate</a:t>
            </a:r>
            <a:endParaRPr lang="en-US" sz="1700" dirty="0"/>
          </a:p>
        </p:txBody>
      </p:sp>
      <p:sp>
        <p:nvSpPr>
          <p:cNvPr id="6" name="Text 4"/>
          <p:cNvSpPr txBox="1"/>
          <p:nvPr/>
        </p:nvSpPr>
        <p:spPr>
          <a:xfrm>
            <a:off x="548640" y="4983480"/>
            <a:ext cx="3657600" cy="228600"/>
          </a:xfrm>
          <a:prstGeom prst="rect">
            <a:avLst/>
          </a:prstGeom>
          <a:noFill/>
          <a:ln/>
        </p:spPr>
        <p:txBody>
          <a:bodyPr wrap="square" lIns="0" tIns="0" rIns="0" bIns="0" rtlCol="0" anchor="ctr"/>
          <a:lstStyle/>
          <a:p>
            <a:pPr indent="0" marL="0">
              <a:buNone/>
            </a:pPr>
            <a:r>
              <a:rPr lang="en-US" sz="1000" b="1" spc="100" kern="0" dirty="0">
                <a:solidFill>
                  <a:srgbClr val="7D8896"/>
                </a:solidFill>
                <a:latin typeface="Courier New" pitchFamily="34" charset="0"/>
                <a:ea typeface="Courier New" pitchFamily="34" charset="-122"/>
                <a:cs typeface="Courier New" pitchFamily="34" charset="-120"/>
              </a:rPr>
              <a:t>GROUP DEVELOPER</a:t>
            </a:r>
            <a:endParaRPr lang="en-US" sz="1000" dirty="0"/>
          </a:p>
        </p:txBody>
      </p:sp>
      <p:sp>
        <p:nvSpPr>
          <p:cNvPr id="7" name="Text 5"/>
          <p:cNvSpPr txBox="1"/>
          <p:nvPr/>
        </p:nvSpPr>
        <p:spPr>
          <a:xfrm>
            <a:off x="548640" y="5230368"/>
            <a:ext cx="2697480"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Obcena, Hans Gabriel</a:t>
            </a:r>
            <a:endParaRPr lang="en-US" sz="1600" dirty="0"/>
          </a:p>
        </p:txBody>
      </p:sp>
      <p:sp>
        <p:nvSpPr>
          <p:cNvPr id="8" name="Text 6"/>
          <p:cNvSpPr txBox="1"/>
          <p:nvPr/>
        </p:nvSpPr>
        <p:spPr>
          <a:xfrm>
            <a:off x="3319272" y="5230368"/>
            <a:ext cx="2697480"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Suerte, Lorenzo Enrique</a:t>
            </a:r>
            <a:endParaRPr lang="en-US" sz="1600" dirty="0"/>
          </a:p>
        </p:txBody>
      </p:sp>
      <p:sp>
        <p:nvSpPr>
          <p:cNvPr id="9" name="Text 7"/>
          <p:cNvSpPr txBox="1"/>
          <p:nvPr/>
        </p:nvSpPr>
        <p:spPr>
          <a:xfrm>
            <a:off x="6089904" y="5230368"/>
            <a:ext cx="2697480"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Cordero, Ramuel Sean</a:t>
            </a:r>
            <a:endParaRPr lang="en-US" sz="1600" dirty="0"/>
          </a:p>
        </p:txBody>
      </p:sp>
      <p:sp>
        <p:nvSpPr>
          <p:cNvPr id="10" name="Text 8"/>
          <p:cNvSpPr txBox="1"/>
          <p:nvPr/>
        </p:nvSpPr>
        <p:spPr>
          <a:xfrm>
            <a:off x="8860536" y="5230368"/>
            <a:ext cx="2697480"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Eleydo, Renzel Vince</a:t>
            </a:r>
            <a:endParaRPr lang="en-US" sz="1600" dirty="0"/>
          </a:p>
        </p:txBody>
      </p:sp>
      <p:sp>
        <p:nvSpPr>
          <p:cNvPr id="11" name="Text 9"/>
          <p:cNvSpPr txBox="1"/>
          <p:nvPr/>
        </p:nvSpPr>
        <p:spPr>
          <a:xfrm>
            <a:off x="548640" y="5989320"/>
            <a:ext cx="11094415" cy="274320"/>
          </a:xfrm>
          <a:prstGeom prst="rect">
            <a:avLst/>
          </a:prstGeom>
          <a:noFill/>
          <a:ln/>
        </p:spPr>
        <p:txBody>
          <a:bodyPr wrap="square" lIns="0" tIns="0" rIns="0" bIns="0" rtlCol="0" anchor="ctr"/>
          <a:lstStyle/>
          <a:p>
            <a:pPr indent="0" marL="0">
              <a:buNone/>
            </a:pPr>
            <a:r>
              <a:rPr lang="en-US" sz="1100" dirty="0">
                <a:solidFill>
                  <a:srgbClr val="7D8896"/>
                </a:solidFill>
                <a:latin typeface="Courier New" pitchFamily="34" charset="0"/>
                <a:ea typeface="Courier New" pitchFamily="34" charset="-122"/>
                <a:cs typeface="Courier New" pitchFamily="34" charset="-120"/>
              </a:rPr>
              <a:t>Version date: 2026-09-21   ·   github.com/Enzo-user/CSOPESY_MO3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00 / OVERVIEW</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System at a glance</a:t>
            </a:r>
            <a:endParaRPr lang="en-US" sz="3200" dirty="0"/>
          </a:p>
        </p:txBody>
      </p:sp>
      <p:sp>
        <p:nvSpPr>
          <p:cNvPr id="4" name="Text 2"/>
          <p:cNvSpPr txBox="1"/>
          <p:nvPr/>
        </p:nvSpPr>
        <p:spPr>
          <a:xfrm>
            <a:off x="548640" y="1371600"/>
            <a:ext cx="6766560" cy="274320"/>
          </a:xfrm>
          <a:prstGeom prst="rect">
            <a:avLst/>
          </a:prstGeom>
          <a:noFill/>
          <a:ln/>
        </p:spPr>
        <p:txBody>
          <a:bodyPr wrap="square" lIns="0" tIns="0" rIns="0" bIns="0" rtlCol="0" anchor="ctr"/>
          <a:lstStyle/>
          <a:p>
            <a:pPr indent="0" marL="0">
              <a:buNone/>
            </a:pPr>
            <a:r>
              <a:rPr lang="en-US" sz="1100" dirty="0">
                <a:solidFill>
                  <a:srgbClr val="5F6B78"/>
                </a:solidFill>
                <a:latin typeface="Courier New" pitchFamily="34" charset="0"/>
                <a:ea typeface="Courier New" pitchFamily="34" charset="-122"/>
                <a:cs typeface="Courier New" pitchFamily="34" charset="-120"/>
              </a:rPr>
              <a:t>src/main.cpp  →  int main() { MarqueeConsole console; console.run(); }</a:t>
            </a:r>
            <a:endParaRPr lang="en-US" sz="1100" dirty="0"/>
          </a:p>
        </p:txBody>
      </p:sp>
      <p:sp>
        <p:nvSpPr>
          <p:cNvPr id="5" name="Shape 3"/>
          <p:cNvSpPr/>
          <p:nvPr/>
        </p:nvSpPr>
        <p:spPr>
          <a:xfrm>
            <a:off x="548640" y="1737360"/>
            <a:ext cx="6766560" cy="822960"/>
          </a:xfrm>
          <a:prstGeom prst="roundRect">
            <a:avLst>
              <a:gd name="adj" fmla="val 8889"/>
            </a:avLst>
          </a:prstGeom>
          <a:solidFill>
            <a:srgbClr val="1B2028"/>
          </a:solidFill>
          <a:ln w="12700">
            <a:solidFill>
              <a:srgbClr val="1B2028"/>
            </a:solidFill>
            <a:prstDash val="solid"/>
          </a:ln>
        </p:spPr>
      </p:sp>
      <p:sp>
        <p:nvSpPr>
          <p:cNvPr id="6" name="Text 4"/>
          <p:cNvSpPr txBox="1"/>
          <p:nvPr/>
        </p:nvSpPr>
        <p:spPr>
          <a:xfrm>
            <a:off x="777240" y="1737360"/>
            <a:ext cx="6309360" cy="822960"/>
          </a:xfrm>
          <a:prstGeom prst="rect">
            <a:avLst/>
          </a:prstGeom>
          <a:noFill/>
          <a:ln/>
        </p:spPr>
        <p:txBody>
          <a:bodyPr wrap="square" lIns="0" tIns="0" rIns="0" bIns="0" rtlCol="0" anchor="ctr"/>
          <a:lstStyle/>
          <a:p>
            <a:pPr indent="0" marL="0">
              <a:buNone/>
            </a:pPr>
            <a:r>
              <a:rPr lang="en-US" sz="1700" b="1" dirty="0">
                <a:solidFill>
                  <a:srgbClr val="F5A524"/>
                </a:solidFill>
                <a:latin typeface="Courier New" pitchFamily="34" charset="0"/>
                <a:ea typeface="Courier New" pitchFamily="34" charset="-122"/>
                <a:cs typeface="Courier New" pitchFamily="34" charset="-120"/>
              </a:rPr>
              <a:t>MarqueeConsole</a:t>
            </a:r>
            <a:endParaRPr lang="en-US" sz="1700" dirty="0"/>
          </a:p>
          <a:p>
            <a:pPr indent="0" marL="0">
              <a:buNone/>
            </a:pPr>
            <a:r>
              <a:rPr lang="en-US" sz="1300" dirty="0">
                <a:solidFill>
                  <a:srgbClr val="D5DAE1"/>
                </a:solidFill>
                <a:latin typeface="Calibri" pitchFamily="34" charset="0"/>
                <a:ea typeface="Calibri" pitchFamily="34" charset="-122"/>
                <a:cs typeface="Calibri" pitchFamily="34" charset="-120"/>
              </a:rPr>
              <a:t>welcome header  ·  Command&gt; loop  ·  command interpreter  ·  keyboard polling</a:t>
            </a:r>
            <a:endParaRPr lang="en-US" sz="1700" dirty="0"/>
          </a:p>
        </p:txBody>
      </p:sp>
      <p:sp>
        <p:nvSpPr>
          <p:cNvPr id="7" name="Shape 5"/>
          <p:cNvSpPr/>
          <p:nvPr/>
        </p:nvSpPr>
        <p:spPr>
          <a:xfrm>
            <a:off x="3931920" y="2560320"/>
            <a:ext cx="0" cy="182880"/>
          </a:xfrm>
          <a:prstGeom prst="line">
            <a:avLst/>
          </a:prstGeom>
          <a:noFill/>
          <a:ln w="15875">
            <a:solidFill>
              <a:srgbClr val="5F6B78"/>
            </a:solidFill>
            <a:prstDash val="solid"/>
          </a:ln>
        </p:spPr>
      </p:sp>
      <p:sp>
        <p:nvSpPr>
          <p:cNvPr id="8" name="Shape 6"/>
          <p:cNvSpPr/>
          <p:nvPr/>
        </p:nvSpPr>
        <p:spPr>
          <a:xfrm>
            <a:off x="1170432" y="2743200"/>
            <a:ext cx="5522976" cy="0"/>
          </a:xfrm>
          <a:prstGeom prst="line">
            <a:avLst/>
          </a:prstGeom>
          <a:noFill/>
          <a:ln w="15875">
            <a:solidFill>
              <a:srgbClr val="5F6B78"/>
            </a:solidFill>
            <a:prstDash val="solid"/>
          </a:ln>
        </p:spPr>
      </p:sp>
      <p:sp>
        <p:nvSpPr>
          <p:cNvPr id="9" name="Shape 7"/>
          <p:cNvSpPr/>
          <p:nvPr/>
        </p:nvSpPr>
        <p:spPr>
          <a:xfrm>
            <a:off x="1170432" y="2743200"/>
            <a:ext cx="0" cy="182880"/>
          </a:xfrm>
          <a:prstGeom prst="line">
            <a:avLst/>
          </a:prstGeom>
          <a:noFill/>
          <a:ln w="15875">
            <a:solidFill>
              <a:srgbClr val="5F6B78"/>
            </a:solidFill>
            <a:prstDash val="solid"/>
          </a:ln>
        </p:spPr>
      </p:sp>
      <p:sp>
        <p:nvSpPr>
          <p:cNvPr id="10" name="Shape 8"/>
          <p:cNvSpPr/>
          <p:nvPr/>
        </p:nvSpPr>
        <p:spPr>
          <a:xfrm>
            <a:off x="548640" y="2926080"/>
            <a:ext cx="1243584" cy="1325880"/>
          </a:xfrm>
          <a:prstGeom prst="roundRect">
            <a:avLst>
              <a:gd name="adj" fmla="val 5882"/>
            </a:avLst>
          </a:prstGeom>
          <a:solidFill>
            <a:srgbClr val="F2F4F7"/>
          </a:solidFill>
          <a:ln w="12700">
            <a:solidFill>
              <a:srgbClr val="F2F4F7"/>
            </a:solidFill>
            <a:prstDash val="solid"/>
          </a:ln>
        </p:spPr>
      </p:sp>
      <p:sp>
        <p:nvSpPr>
          <p:cNvPr id="11" name="Text 9"/>
          <p:cNvSpPr txBox="1"/>
          <p:nvPr/>
        </p:nvSpPr>
        <p:spPr>
          <a:xfrm>
            <a:off x="640080" y="3017520"/>
            <a:ext cx="1060704" cy="1143000"/>
          </a:xfrm>
          <a:prstGeom prst="rect">
            <a:avLst/>
          </a:prstGeom>
          <a:noFill/>
          <a:ln/>
        </p:spPr>
        <p:txBody>
          <a:bodyPr wrap="square" lIns="0" tIns="0" rIns="0" bIns="0" rtlCol="0" anchor="t"/>
          <a:lstStyle/>
          <a:p>
            <a:pPr indent="0" marL="0">
              <a:spcAft>
                <a:spcPts val="400"/>
              </a:spcAft>
              <a:buNone/>
            </a:pPr>
            <a:r>
              <a:rPr lang="en-US" sz="1200" b="1" dirty="0">
                <a:solidFill>
                  <a:srgbClr val="1D232B"/>
                </a:solidFill>
                <a:latin typeface="Courier New" pitchFamily="34" charset="0"/>
                <a:ea typeface="Courier New" pitchFamily="34" charset="-122"/>
                <a:cs typeface="Courier New" pitchFamily="34" charset="-120"/>
              </a:rPr>
              <a:t>Config</a:t>
            </a:r>
            <a:endParaRPr lang="en-US" sz="1200" dirty="0"/>
          </a:p>
          <a:p>
            <a:pPr indent="0" marL="0">
              <a:spcAft>
                <a:spcPts val="400"/>
              </a:spcAft>
              <a:buNone/>
            </a:pPr>
            <a:r>
              <a:rPr lang="en-US" sz="1150" dirty="0">
                <a:solidFill>
                  <a:srgbClr val="5F6B78"/>
                </a:solidFill>
                <a:latin typeface="Calibri" pitchFamily="34" charset="0"/>
                <a:ea typeface="Calibri" pitchFamily="34" charset="-122"/>
                <a:cs typeface="Calibri" pitchFamily="34" charset="-120"/>
              </a:rPr>
              <a:t>config.txt settings read at startup</a:t>
            </a:r>
            <a:endParaRPr lang="en-US" sz="1200" dirty="0"/>
          </a:p>
        </p:txBody>
      </p:sp>
      <p:sp>
        <p:nvSpPr>
          <p:cNvPr id="12" name="Shape 10"/>
          <p:cNvSpPr/>
          <p:nvPr/>
        </p:nvSpPr>
        <p:spPr>
          <a:xfrm>
            <a:off x="2551176" y="2743200"/>
            <a:ext cx="0" cy="182880"/>
          </a:xfrm>
          <a:prstGeom prst="line">
            <a:avLst/>
          </a:prstGeom>
          <a:noFill/>
          <a:ln w="15875">
            <a:solidFill>
              <a:srgbClr val="5F6B78"/>
            </a:solidFill>
            <a:prstDash val="solid"/>
          </a:ln>
        </p:spPr>
      </p:sp>
      <p:sp>
        <p:nvSpPr>
          <p:cNvPr id="13" name="Shape 11"/>
          <p:cNvSpPr/>
          <p:nvPr/>
        </p:nvSpPr>
        <p:spPr>
          <a:xfrm>
            <a:off x="1929384" y="2926080"/>
            <a:ext cx="1243584" cy="1325880"/>
          </a:xfrm>
          <a:prstGeom prst="roundRect">
            <a:avLst>
              <a:gd name="adj" fmla="val 5882"/>
            </a:avLst>
          </a:prstGeom>
          <a:solidFill>
            <a:srgbClr val="F2F4F7"/>
          </a:solidFill>
          <a:ln w="12700">
            <a:solidFill>
              <a:srgbClr val="F2F4F7"/>
            </a:solidFill>
            <a:prstDash val="solid"/>
          </a:ln>
        </p:spPr>
      </p:sp>
      <p:sp>
        <p:nvSpPr>
          <p:cNvPr id="14" name="Text 12"/>
          <p:cNvSpPr txBox="1"/>
          <p:nvPr/>
        </p:nvSpPr>
        <p:spPr>
          <a:xfrm>
            <a:off x="2020824" y="3017520"/>
            <a:ext cx="1060704" cy="1143000"/>
          </a:xfrm>
          <a:prstGeom prst="rect">
            <a:avLst/>
          </a:prstGeom>
          <a:noFill/>
          <a:ln/>
        </p:spPr>
        <p:txBody>
          <a:bodyPr wrap="square" lIns="0" tIns="0" rIns="0" bIns="0" rtlCol="0" anchor="t"/>
          <a:lstStyle/>
          <a:p>
            <a:pPr indent="0" marL="0">
              <a:spcAft>
                <a:spcPts val="400"/>
              </a:spcAft>
              <a:buNone/>
            </a:pPr>
            <a:r>
              <a:rPr lang="en-US" sz="1200" b="1" dirty="0">
                <a:solidFill>
                  <a:srgbClr val="1D232B"/>
                </a:solidFill>
                <a:latin typeface="Courier New" pitchFamily="34" charset="0"/>
                <a:ea typeface="Courier New" pitchFamily="34" charset="-122"/>
                <a:cs typeface="Courier New" pitchFamily="34" charset="-120"/>
              </a:rPr>
              <a:t>AsciiFont</a:t>
            </a:r>
            <a:endParaRPr lang="en-US" sz="1200" dirty="0"/>
          </a:p>
          <a:p>
            <a:pPr indent="0" marL="0">
              <a:spcAft>
                <a:spcPts val="400"/>
              </a:spcAft>
              <a:buNone/>
            </a:pPr>
            <a:r>
              <a:rPr lang="en-US" sz="1150" dirty="0">
                <a:solidFill>
                  <a:srgbClr val="5F6B78"/>
                </a:solidFill>
                <a:latin typeface="Calibri" pitchFamily="34" charset="0"/>
                <a:ea typeface="Calibri" pitchFamily="34" charset="-122"/>
                <a:cs typeface="Calibri" pitchFamily="34" charset="-120"/>
              </a:rPr>
              <a:t>ascii_big.txt glyphs → 8 text rows</a:t>
            </a:r>
            <a:endParaRPr lang="en-US" sz="1200" dirty="0"/>
          </a:p>
        </p:txBody>
      </p:sp>
      <p:sp>
        <p:nvSpPr>
          <p:cNvPr id="15" name="Shape 13"/>
          <p:cNvSpPr/>
          <p:nvPr/>
        </p:nvSpPr>
        <p:spPr>
          <a:xfrm>
            <a:off x="3931920" y="2743200"/>
            <a:ext cx="0" cy="182880"/>
          </a:xfrm>
          <a:prstGeom prst="line">
            <a:avLst/>
          </a:prstGeom>
          <a:noFill/>
          <a:ln w="15875">
            <a:solidFill>
              <a:srgbClr val="5F6B78"/>
            </a:solidFill>
            <a:prstDash val="solid"/>
          </a:ln>
        </p:spPr>
      </p:sp>
      <p:sp>
        <p:nvSpPr>
          <p:cNvPr id="16" name="Shape 14"/>
          <p:cNvSpPr/>
          <p:nvPr/>
        </p:nvSpPr>
        <p:spPr>
          <a:xfrm>
            <a:off x="3310128" y="2926080"/>
            <a:ext cx="1243584" cy="1325880"/>
          </a:xfrm>
          <a:prstGeom prst="roundRect">
            <a:avLst>
              <a:gd name="adj" fmla="val 5882"/>
            </a:avLst>
          </a:prstGeom>
          <a:solidFill>
            <a:srgbClr val="F2F4F7"/>
          </a:solidFill>
          <a:ln w="12700">
            <a:solidFill>
              <a:srgbClr val="F2F4F7"/>
            </a:solidFill>
            <a:prstDash val="solid"/>
          </a:ln>
        </p:spPr>
      </p:sp>
      <p:sp>
        <p:nvSpPr>
          <p:cNvPr id="17" name="Text 15"/>
          <p:cNvSpPr txBox="1"/>
          <p:nvPr/>
        </p:nvSpPr>
        <p:spPr>
          <a:xfrm>
            <a:off x="3401568" y="3017520"/>
            <a:ext cx="1060704" cy="1143000"/>
          </a:xfrm>
          <a:prstGeom prst="rect">
            <a:avLst/>
          </a:prstGeom>
          <a:noFill/>
          <a:ln/>
        </p:spPr>
        <p:txBody>
          <a:bodyPr wrap="square" lIns="0" tIns="0" rIns="0" bIns="0" rtlCol="0" anchor="t"/>
          <a:lstStyle/>
          <a:p>
            <a:pPr indent="0" marL="0">
              <a:spcAft>
                <a:spcPts val="400"/>
              </a:spcAft>
              <a:buNone/>
            </a:pPr>
            <a:r>
              <a:rPr lang="en-US" sz="1200" b="1" dirty="0">
                <a:solidFill>
                  <a:srgbClr val="1D232B"/>
                </a:solidFill>
                <a:latin typeface="Courier New" pitchFamily="34" charset="0"/>
                <a:ea typeface="Courier New" pitchFamily="34" charset="-122"/>
                <a:cs typeface="Courier New" pitchFamily="34" charset="-120"/>
              </a:rPr>
              <a:t>Metrics</a:t>
            </a:r>
            <a:endParaRPr lang="en-US" sz="1200" dirty="0"/>
          </a:p>
          <a:p>
            <a:pPr indent="0" marL="0">
              <a:spcAft>
                <a:spcPts val="400"/>
              </a:spcAft>
              <a:buNone/>
            </a:pPr>
            <a:r>
              <a:rPr lang="en-US" sz="1150" dirty="0">
                <a:solidFill>
                  <a:srgbClr val="5F6B78"/>
                </a:solidFill>
                <a:latin typeface="Calibri" pitchFamily="34" charset="0"/>
                <a:ea typeface="Calibri" pitchFamily="34" charset="-122"/>
                <a:cs typeface="Calibri" pitchFamily="34" charset="-120"/>
              </a:rPr>
              <a:t>timings behind the stats command</a:t>
            </a:r>
            <a:endParaRPr lang="en-US" sz="1200" dirty="0"/>
          </a:p>
        </p:txBody>
      </p:sp>
      <p:sp>
        <p:nvSpPr>
          <p:cNvPr id="18" name="Shape 16"/>
          <p:cNvSpPr/>
          <p:nvPr/>
        </p:nvSpPr>
        <p:spPr>
          <a:xfrm>
            <a:off x="5312664" y="2743200"/>
            <a:ext cx="0" cy="182880"/>
          </a:xfrm>
          <a:prstGeom prst="line">
            <a:avLst/>
          </a:prstGeom>
          <a:noFill/>
          <a:ln w="15875">
            <a:solidFill>
              <a:srgbClr val="5F6B78"/>
            </a:solidFill>
            <a:prstDash val="solid"/>
          </a:ln>
        </p:spPr>
      </p:sp>
      <p:sp>
        <p:nvSpPr>
          <p:cNvPr id="19" name="Shape 17"/>
          <p:cNvSpPr/>
          <p:nvPr/>
        </p:nvSpPr>
        <p:spPr>
          <a:xfrm>
            <a:off x="4690872" y="2926080"/>
            <a:ext cx="1243584" cy="1325880"/>
          </a:xfrm>
          <a:prstGeom prst="roundRect">
            <a:avLst>
              <a:gd name="adj" fmla="val 5882"/>
            </a:avLst>
          </a:prstGeom>
          <a:solidFill>
            <a:srgbClr val="F2F4F7"/>
          </a:solidFill>
          <a:ln w="12700">
            <a:solidFill>
              <a:srgbClr val="F2F4F7"/>
            </a:solidFill>
            <a:prstDash val="solid"/>
          </a:ln>
        </p:spPr>
      </p:sp>
      <p:sp>
        <p:nvSpPr>
          <p:cNvPr id="20" name="Text 18"/>
          <p:cNvSpPr txBox="1"/>
          <p:nvPr/>
        </p:nvSpPr>
        <p:spPr>
          <a:xfrm>
            <a:off x="4782312" y="3017520"/>
            <a:ext cx="1060704" cy="1143000"/>
          </a:xfrm>
          <a:prstGeom prst="rect">
            <a:avLst/>
          </a:prstGeom>
          <a:noFill/>
          <a:ln/>
        </p:spPr>
        <p:txBody>
          <a:bodyPr wrap="square" lIns="0" tIns="0" rIns="0" bIns="0" rtlCol="0" anchor="t"/>
          <a:lstStyle/>
          <a:p>
            <a:pPr indent="0" marL="0">
              <a:spcAft>
                <a:spcPts val="400"/>
              </a:spcAft>
              <a:buNone/>
            </a:pPr>
            <a:r>
              <a:rPr lang="en-US" sz="1200" b="1" dirty="0">
                <a:solidFill>
                  <a:srgbClr val="1D232B"/>
                </a:solidFill>
                <a:latin typeface="Courier New" pitchFamily="34" charset="0"/>
                <a:ea typeface="Courier New" pitchFamily="34" charset="-122"/>
                <a:cs typeface="Courier New" pitchFamily="34" charset="-120"/>
              </a:rPr>
              <a:t>Console</a:t>
            </a:r>
            <a:endParaRPr lang="en-US" sz="1200" dirty="0"/>
          </a:p>
          <a:p>
            <a:pPr indent="0" marL="0">
              <a:spcAft>
                <a:spcPts val="400"/>
              </a:spcAft>
              <a:buNone/>
            </a:pPr>
            <a:r>
              <a:rPr lang="en-US" sz="1150" dirty="0">
                <a:solidFill>
                  <a:srgbClr val="5F6B78"/>
                </a:solidFill>
                <a:latin typeface="Calibri" pitchFamily="34" charset="0"/>
                <a:ea typeface="Calibri" pitchFamily="34" charset="-122"/>
                <a:cs typeface="Calibri" pitchFamily="34" charset="-120"/>
              </a:rPr>
              <a:t>ANSI, layout, the one output mutex</a:t>
            </a:r>
            <a:endParaRPr lang="en-US" sz="1200" dirty="0"/>
          </a:p>
        </p:txBody>
      </p:sp>
      <p:sp>
        <p:nvSpPr>
          <p:cNvPr id="21" name="Shape 19"/>
          <p:cNvSpPr/>
          <p:nvPr/>
        </p:nvSpPr>
        <p:spPr>
          <a:xfrm>
            <a:off x="6693408" y="2743200"/>
            <a:ext cx="0" cy="182880"/>
          </a:xfrm>
          <a:prstGeom prst="line">
            <a:avLst/>
          </a:prstGeom>
          <a:noFill/>
          <a:ln w="15875">
            <a:solidFill>
              <a:srgbClr val="5F6B78"/>
            </a:solidFill>
            <a:prstDash val="solid"/>
          </a:ln>
        </p:spPr>
      </p:sp>
      <p:sp>
        <p:nvSpPr>
          <p:cNvPr id="22" name="Shape 20"/>
          <p:cNvSpPr/>
          <p:nvPr/>
        </p:nvSpPr>
        <p:spPr>
          <a:xfrm>
            <a:off x="6071616" y="2926080"/>
            <a:ext cx="1243584" cy="1325880"/>
          </a:xfrm>
          <a:prstGeom prst="roundRect">
            <a:avLst>
              <a:gd name="adj" fmla="val 5882"/>
            </a:avLst>
          </a:prstGeom>
          <a:solidFill>
            <a:srgbClr val="F2F4F7"/>
          </a:solidFill>
          <a:ln w="12700">
            <a:solidFill>
              <a:srgbClr val="F2F4F7"/>
            </a:solidFill>
            <a:prstDash val="solid"/>
          </a:ln>
        </p:spPr>
      </p:sp>
      <p:sp>
        <p:nvSpPr>
          <p:cNvPr id="23" name="Text 21"/>
          <p:cNvSpPr txBox="1"/>
          <p:nvPr/>
        </p:nvSpPr>
        <p:spPr>
          <a:xfrm>
            <a:off x="6163056" y="3017520"/>
            <a:ext cx="1060704" cy="1143000"/>
          </a:xfrm>
          <a:prstGeom prst="rect">
            <a:avLst/>
          </a:prstGeom>
          <a:noFill/>
          <a:ln/>
        </p:spPr>
        <p:txBody>
          <a:bodyPr wrap="square" lIns="0" tIns="0" rIns="0" bIns="0" rtlCol="0" anchor="t"/>
          <a:lstStyle/>
          <a:p>
            <a:pPr indent="0" marL="0">
              <a:spcAft>
                <a:spcPts val="400"/>
              </a:spcAft>
              <a:buNone/>
            </a:pPr>
            <a:r>
              <a:rPr lang="en-US" sz="1200" b="1" dirty="0">
                <a:solidFill>
                  <a:srgbClr val="1D232B"/>
                </a:solidFill>
                <a:latin typeface="Courier New" pitchFamily="34" charset="0"/>
                <a:ea typeface="Courier New" pitchFamily="34" charset="-122"/>
                <a:cs typeface="Courier New" pitchFamily="34" charset="-120"/>
              </a:rPr>
              <a:t>Marquee</a:t>
            </a:r>
            <a:endParaRPr lang="en-US" sz="1200" dirty="0"/>
          </a:p>
          <a:p>
            <a:pPr indent="0" marL="0">
              <a:spcAft>
                <a:spcPts val="400"/>
              </a:spcAft>
              <a:buNone/>
            </a:pPr>
            <a:r>
              <a:rPr lang="en-US" sz="1150" dirty="0">
                <a:solidFill>
                  <a:srgbClr val="5F6B78"/>
                </a:solidFill>
                <a:latin typeface="Calibri" pitchFamily="34" charset="0"/>
                <a:ea typeface="Calibri" pitchFamily="34" charset="-122"/>
                <a:cs typeface="Calibri" pitchFamily="34" charset="-120"/>
              </a:rPr>
              <a:t>text, speed and the animation thread</a:t>
            </a:r>
            <a:endParaRPr lang="en-US" sz="1200" dirty="0"/>
          </a:p>
        </p:txBody>
      </p:sp>
      <p:sp>
        <p:nvSpPr>
          <p:cNvPr id="24" name="Text 22"/>
          <p:cNvSpPr txBox="1"/>
          <p:nvPr/>
        </p:nvSpPr>
        <p:spPr>
          <a:xfrm>
            <a:off x="548640" y="4480560"/>
            <a:ext cx="2743200" cy="228600"/>
          </a:xfrm>
          <a:prstGeom prst="rect">
            <a:avLst/>
          </a:prstGeom>
          <a:noFill/>
          <a:ln/>
        </p:spPr>
        <p:txBody>
          <a:bodyPr wrap="square" lIns="0" tIns="0" rIns="0" bIns="0" rtlCol="0" anchor="ctr"/>
          <a:lstStyle/>
          <a:p>
            <a:pPr indent="0" marL="0">
              <a:buNone/>
            </a:pPr>
            <a:r>
              <a:rPr lang="en-US" sz="1000" b="1" dirty="0">
                <a:solidFill>
                  <a:srgbClr val="5F6B78"/>
                </a:solidFill>
                <a:latin typeface="Courier New" pitchFamily="34" charset="0"/>
                <a:ea typeface="Courier New" pitchFamily="34" charset="-122"/>
                <a:cs typeface="Courier New" pitchFamily="34" charset="-120"/>
              </a:rPr>
              <a:t>SHARED HELPERS</a:t>
            </a:r>
            <a:endParaRPr lang="en-US" sz="1000" dirty="0"/>
          </a:p>
        </p:txBody>
      </p:sp>
      <p:sp>
        <p:nvSpPr>
          <p:cNvPr id="25" name="Shape 23"/>
          <p:cNvSpPr/>
          <p:nvPr/>
        </p:nvSpPr>
        <p:spPr>
          <a:xfrm>
            <a:off x="548640" y="4754880"/>
            <a:ext cx="3314700" cy="868680"/>
          </a:xfrm>
          <a:prstGeom prst="roundRect">
            <a:avLst>
              <a:gd name="adj" fmla="val 8421"/>
            </a:avLst>
          </a:prstGeom>
          <a:solidFill>
            <a:srgbClr val="FFFFFF"/>
          </a:solidFill>
          <a:ln w="12700">
            <a:solidFill>
              <a:srgbClr val="DDE2E8"/>
            </a:solidFill>
            <a:prstDash val="solid"/>
          </a:ln>
        </p:spPr>
      </p:sp>
      <p:sp>
        <p:nvSpPr>
          <p:cNvPr id="26" name="Text 24"/>
          <p:cNvSpPr txBox="1"/>
          <p:nvPr/>
        </p:nvSpPr>
        <p:spPr>
          <a:xfrm>
            <a:off x="685800" y="4800600"/>
            <a:ext cx="3040380" cy="777240"/>
          </a:xfrm>
          <a:prstGeom prst="rect">
            <a:avLst/>
          </a:prstGeom>
          <a:noFill/>
          <a:ln/>
        </p:spPr>
        <p:txBody>
          <a:bodyPr wrap="square" lIns="0" tIns="0" rIns="0" bIns="0" rtlCol="0" anchor="ctr"/>
          <a:lstStyle/>
          <a:p>
            <a:pPr indent="0" marL="0">
              <a:buNone/>
            </a:pPr>
            <a:r>
              <a:rPr lang="en-US" sz="1200" b="1" dirty="0">
                <a:solidFill>
                  <a:srgbClr val="1D232B"/>
                </a:solidFill>
                <a:latin typeface="Courier New" pitchFamily="34" charset="0"/>
                <a:ea typeface="Courier New" pitchFamily="34" charset="-122"/>
                <a:cs typeface="Courier New" pitchFamily="34" charset="-120"/>
              </a:rPr>
              <a:t>DataFile</a:t>
            </a:r>
            <a:endParaRPr lang="en-US" sz="1200" dirty="0"/>
          </a:p>
          <a:p>
            <a:pPr indent="0" marL="0">
              <a:buNone/>
            </a:pPr>
            <a:r>
              <a:rPr lang="en-US" sz="1150" dirty="0">
                <a:solidFill>
                  <a:srgbClr val="5F6B78"/>
                </a:solidFill>
                <a:latin typeface="Calibri" pitchFamily="34" charset="0"/>
                <a:ea typeface="Calibri" pitchFamily="34" charset="-122"/>
                <a:cs typeface="Calibri" pitchFamily="34" charset="-120"/>
              </a:rPr>
              <a:t>finds config.txt and ascii_big.txt (working dir, then exe dir)</a:t>
            </a:r>
            <a:endParaRPr lang="en-US" sz="1200" dirty="0"/>
          </a:p>
        </p:txBody>
      </p:sp>
      <p:sp>
        <p:nvSpPr>
          <p:cNvPr id="27" name="Shape 25"/>
          <p:cNvSpPr/>
          <p:nvPr/>
        </p:nvSpPr>
        <p:spPr>
          <a:xfrm>
            <a:off x="4000500" y="4754880"/>
            <a:ext cx="3314700" cy="868680"/>
          </a:xfrm>
          <a:prstGeom prst="roundRect">
            <a:avLst>
              <a:gd name="adj" fmla="val 8421"/>
            </a:avLst>
          </a:prstGeom>
          <a:solidFill>
            <a:srgbClr val="FFFFFF"/>
          </a:solidFill>
          <a:ln w="12700">
            <a:solidFill>
              <a:srgbClr val="DDE2E8"/>
            </a:solidFill>
            <a:prstDash val="solid"/>
          </a:ln>
        </p:spPr>
      </p:sp>
      <p:sp>
        <p:nvSpPr>
          <p:cNvPr id="28" name="Text 26"/>
          <p:cNvSpPr txBox="1"/>
          <p:nvPr/>
        </p:nvSpPr>
        <p:spPr>
          <a:xfrm>
            <a:off x="4137660" y="4800600"/>
            <a:ext cx="3040380" cy="777240"/>
          </a:xfrm>
          <a:prstGeom prst="rect">
            <a:avLst/>
          </a:prstGeom>
          <a:noFill/>
          <a:ln/>
        </p:spPr>
        <p:txBody>
          <a:bodyPr wrap="square" lIns="0" tIns="0" rIns="0" bIns="0" rtlCol="0" anchor="ctr"/>
          <a:lstStyle/>
          <a:p>
            <a:pPr indent="0" marL="0">
              <a:buNone/>
            </a:pPr>
            <a:r>
              <a:rPr lang="en-US" sz="1200" b="1" dirty="0">
                <a:solidFill>
                  <a:srgbClr val="1D232B"/>
                </a:solidFill>
                <a:latin typeface="Courier New" pitchFamily="34" charset="0"/>
                <a:ea typeface="Courier New" pitchFamily="34" charset="-122"/>
                <a:cs typeface="Courier New" pitchFamily="34" charset="-120"/>
              </a:rPr>
              <a:t>Text</a:t>
            </a:r>
            <a:endParaRPr lang="en-US" sz="1200" dirty="0"/>
          </a:p>
          <a:p>
            <a:pPr indent="0" marL="0">
              <a:buNone/>
            </a:pPr>
            <a:r>
              <a:rPr lang="en-US" sz="1150" dirty="0">
                <a:solidFill>
                  <a:srgbClr val="5F6B78"/>
                </a:solidFill>
                <a:latin typeface="Calibri" pitchFamily="34" charset="0"/>
                <a:ea typeface="Calibri" pitchFamily="34" charset="-122"/>
                <a:cs typeface="Calibri" pitchFamily="34" charset="-120"/>
              </a:rPr>
              <a:t>trim() and the millisecond parser used by both inputs</a:t>
            </a:r>
            <a:endParaRPr lang="en-US" sz="1200" dirty="0"/>
          </a:p>
        </p:txBody>
      </p:sp>
      <p:sp>
        <p:nvSpPr>
          <p:cNvPr id="29" name="Text 27"/>
          <p:cNvSpPr txBox="1"/>
          <p:nvPr/>
        </p:nvSpPr>
        <p:spPr>
          <a:xfrm>
            <a:off x="548640" y="5806440"/>
            <a:ext cx="6766560" cy="274320"/>
          </a:xfrm>
          <a:prstGeom prst="rect">
            <a:avLst/>
          </a:prstGeom>
          <a:noFill/>
          <a:ln/>
        </p:spPr>
        <p:txBody>
          <a:bodyPr wrap="square" lIns="0" tIns="0" rIns="0" bIns="0" rtlCol="0" anchor="ctr"/>
          <a:lstStyle/>
          <a:p>
            <a:pPr indent="0" marL="0">
              <a:buNone/>
            </a:pPr>
            <a:r>
              <a:rPr lang="en-US" sz="1200" i="1" dirty="0">
                <a:solidFill>
                  <a:srgbClr val="5F6B78"/>
                </a:solidFill>
                <a:latin typeface="Calibri" pitchFamily="34" charset="0"/>
                <a:ea typeface="Calibri" pitchFamily="34" charset="-122"/>
                <a:cs typeface="Calibri" pitchFamily="34" charset="-120"/>
              </a:rPr>
              <a:t>Only Console, DataFile and MarqueeConsole touch the Windows API; the rest is portable C++.</a:t>
            </a:r>
            <a:endParaRPr lang="en-US" sz="1200" dirty="0"/>
          </a:p>
        </p:txBody>
      </p:sp>
      <p:sp>
        <p:nvSpPr>
          <p:cNvPr id="30" name="Shape 28"/>
          <p:cNvSpPr/>
          <p:nvPr/>
        </p:nvSpPr>
        <p:spPr>
          <a:xfrm>
            <a:off x="7726680" y="1737360"/>
            <a:ext cx="1874520" cy="2057400"/>
          </a:xfrm>
          <a:prstGeom prst="roundRect">
            <a:avLst>
              <a:gd name="adj" fmla="val 3902"/>
            </a:avLst>
          </a:prstGeom>
          <a:solidFill>
            <a:srgbClr val="FFF3DD"/>
          </a:solidFill>
          <a:ln w="12700">
            <a:solidFill>
              <a:srgbClr val="FFF3DD"/>
            </a:solidFill>
            <a:prstDash val="solid"/>
          </a:ln>
        </p:spPr>
      </p:sp>
      <p:sp>
        <p:nvSpPr>
          <p:cNvPr id="31" name="Text 29"/>
          <p:cNvSpPr txBox="1"/>
          <p:nvPr/>
        </p:nvSpPr>
        <p:spPr>
          <a:xfrm>
            <a:off x="7863840" y="2057400"/>
            <a:ext cx="1600200" cy="822960"/>
          </a:xfrm>
          <a:prstGeom prst="rect">
            <a:avLst/>
          </a:prstGeom>
          <a:noFill/>
          <a:ln/>
        </p:spPr>
        <p:txBody>
          <a:bodyPr wrap="square" lIns="0" tIns="0" rIns="0" bIns="0" rtlCol="0" anchor="ctr"/>
          <a:lstStyle/>
          <a:p>
            <a:pPr indent="0" marL="0">
              <a:buNone/>
            </a:pPr>
            <a:r>
              <a:rPr lang="en-US" sz="4000" b="1" dirty="0">
                <a:solidFill>
                  <a:srgbClr val="A35F00"/>
                </a:solidFill>
                <a:latin typeface="Calibri" pitchFamily="34" charset="0"/>
                <a:ea typeface="Calibri" pitchFamily="34" charset="-122"/>
                <a:cs typeface="Calibri" pitchFamily="34" charset="-120"/>
              </a:rPr>
              <a:t>9</a:t>
            </a:r>
            <a:endParaRPr lang="en-US" sz="4000" dirty="0"/>
          </a:p>
        </p:txBody>
      </p:sp>
      <p:sp>
        <p:nvSpPr>
          <p:cNvPr id="32" name="Text 30"/>
          <p:cNvSpPr txBox="1"/>
          <p:nvPr/>
        </p:nvSpPr>
        <p:spPr>
          <a:xfrm>
            <a:off x="7863840" y="2926080"/>
            <a:ext cx="1600200" cy="640080"/>
          </a:xfrm>
          <a:prstGeom prst="rect">
            <a:avLst/>
          </a:prstGeom>
          <a:noFill/>
          <a:ln/>
        </p:spPr>
        <p:txBody>
          <a:bodyPr wrap="square" lIns="0" tIns="0" rIns="0" bIns="0" rtlCol="0" anchor="t"/>
          <a:lstStyle/>
          <a:p>
            <a:pPr indent="0" marL="0">
              <a:buNone/>
            </a:pPr>
            <a:r>
              <a:rPr lang="en-US" sz="1400" dirty="0">
                <a:solidFill>
                  <a:srgbClr val="1D232B"/>
                </a:solidFill>
                <a:latin typeface="Calibri" pitchFamily="34" charset="0"/>
                <a:ea typeface="Calibri" pitchFamily="34" charset="-122"/>
                <a:cs typeface="Calibri" pitchFamily="34" charset="-120"/>
              </a:rPr>
              <a:t>.cpp source files</a:t>
            </a:r>
            <a:endParaRPr lang="en-US" sz="1400" dirty="0"/>
          </a:p>
        </p:txBody>
      </p:sp>
      <p:sp>
        <p:nvSpPr>
          <p:cNvPr id="33" name="Shape 31"/>
          <p:cNvSpPr/>
          <p:nvPr/>
        </p:nvSpPr>
        <p:spPr>
          <a:xfrm>
            <a:off x="9765792" y="1737360"/>
            <a:ext cx="1874520" cy="2057400"/>
          </a:xfrm>
          <a:prstGeom prst="roundRect">
            <a:avLst>
              <a:gd name="adj" fmla="val 3902"/>
            </a:avLst>
          </a:prstGeom>
          <a:solidFill>
            <a:srgbClr val="FFF3DD"/>
          </a:solidFill>
          <a:ln w="12700">
            <a:solidFill>
              <a:srgbClr val="FFF3DD"/>
            </a:solidFill>
            <a:prstDash val="solid"/>
          </a:ln>
        </p:spPr>
      </p:sp>
      <p:sp>
        <p:nvSpPr>
          <p:cNvPr id="34" name="Text 32"/>
          <p:cNvSpPr txBox="1"/>
          <p:nvPr/>
        </p:nvSpPr>
        <p:spPr>
          <a:xfrm>
            <a:off x="9902952" y="2057400"/>
            <a:ext cx="1600200" cy="822960"/>
          </a:xfrm>
          <a:prstGeom prst="rect">
            <a:avLst/>
          </a:prstGeom>
          <a:noFill/>
          <a:ln/>
        </p:spPr>
        <p:txBody>
          <a:bodyPr wrap="square" lIns="0" tIns="0" rIns="0" bIns="0" rtlCol="0" anchor="ctr"/>
          <a:lstStyle/>
          <a:p>
            <a:pPr indent="0" marL="0">
              <a:buNone/>
            </a:pPr>
            <a:r>
              <a:rPr lang="en-US" sz="4000" b="1" dirty="0">
                <a:solidFill>
                  <a:srgbClr val="A35F00"/>
                </a:solidFill>
                <a:latin typeface="Calibri" pitchFamily="34" charset="0"/>
                <a:ea typeface="Calibri" pitchFamily="34" charset="-122"/>
                <a:cs typeface="Calibri" pitchFamily="34" charset="-120"/>
              </a:rPr>
              <a:t>1,031</a:t>
            </a:r>
            <a:endParaRPr lang="en-US" sz="4000" dirty="0"/>
          </a:p>
        </p:txBody>
      </p:sp>
      <p:sp>
        <p:nvSpPr>
          <p:cNvPr id="35" name="Text 33"/>
          <p:cNvSpPr txBox="1"/>
          <p:nvPr/>
        </p:nvSpPr>
        <p:spPr>
          <a:xfrm>
            <a:off x="9902952" y="2926080"/>
            <a:ext cx="1600200" cy="640080"/>
          </a:xfrm>
          <a:prstGeom prst="rect">
            <a:avLst/>
          </a:prstGeom>
          <a:noFill/>
          <a:ln/>
        </p:spPr>
        <p:txBody>
          <a:bodyPr wrap="square" lIns="0" tIns="0" rIns="0" bIns="0" rtlCol="0" anchor="t"/>
          <a:lstStyle/>
          <a:p>
            <a:pPr indent="0" marL="0">
              <a:buNone/>
            </a:pPr>
            <a:r>
              <a:rPr lang="en-US" sz="1400" dirty="0">
                <a:solidFill>
                  <a:srgbClr val="1D232B"/>
                </a:solidFill>
                <a:latin typeface="Calibri" pitchFamily="34" charset="0"/>
                <a:ea typeface="Calibri" pitchFamily="34" charset="-122"/>
                <a:cs typeface="Calibri" pitchFamily="34" charset="-120"/>
              </a:rPr>
              <a:t>lines of C++ in src/</a:t>
            </a:r>
            <a:endParaRPr lang="en-US" sz="1400" dirty="0"/>
          </a:p>
        </p:txBody>
      </p:sp>
      <p:sp>
        <p:nvSpPr>
          <p:cNvPr id="36" name="Shape 34"/>
          <p:cNvSpPr/>
          <p:nvPr/>
        </p:nvSpPr>
        <p:spPr>
          <a:xfrm>
            <a:off x="7726680" y="3977640"/>
            <a:ext cx="1874520" cy="2057400"/>
          </a:xfrm>
          <a:prstGeom prst="roundRect">
            <a:avLst>
              <a:gd name="adj" fmla="val 3902"/>
            </a:avLst>
          </a:prstGeom>
          <a:solidFill>
            <a:srgbClr val="FFF3DD"/>
          </a:solidFill>
          <a:ln w="12700">
            <a:solidFill>
              <a:srgbClr val="FFF3DD"/>
            </a:solidFill>
            <a:prstDash val="solid"/>
          </a:ln>
        </p:spPr>
      </p:sp>
      <p:sp>
        <p:nvSpPr>
          <p:cNvPr id="37" name="Text 35"/>
          <p:cNvSpPr txBox="1"/>
          <p:nvPr/>
        </p:nvSpPr>
        <p:spPr>
          <a:xfrm>
            <a:off x="7863840" y="4297680"/>
            <a:ext cx="1600200" cy="822960"/>
          </a:xfrm>
          <a:prstGeom prst="rect">
            <a:avLst/>
          </a:prstGeom>
          <a:noFill/>
          <a:ln/>
        </p:spPr>
        <p:txBody>
          <a:bodyPr wrap="square" lIns="0" tIns="0" rIns="0" bIns="0" rtlCol="0" anchor="ctr"/>
          <a:lstStyle/>
          <a:p>
            <a:pPr indent="0" marL="0">
              <a:buNone/>
            </a:pPr>
            <a:r>
              <a:rPr lang="en-US" sz="4000" b="1" dirty="0">
                <a:solidFill>
                  <a:srgbClr val="A35F00"/>
                </a:solidFill>
                <a:latin typeface="Calibri" pitchFamily="34" charset="0"/>
                <a:ea typeface="Calibri" pitchFamily="34" charset="-122"/>
                <a:cs typeface="Calibri" pitchFamily="34" charset="-120"/>
              </a:rPr>
              <a:t>2</a:t>
            </a:r>
            <a:endParaRPr lang="en-US" sz="4000" dirty="0"/>
          </a:p>
        </p:txBody>
      </p:sp>
      <p:sp>
        <p:nvSpPr>
          <p:cNvPr id="38" name="Text 36"/>
          <p:cNvSpPr txBox="1"/>
          <p:nvPr/>
        </p:nvSpPr>
        <p:spPr>
          <a:xfrm>
            <a:off x="7863840" y="5166360"/>
            <a:ext cx="1600200" cy="640080"/>
          </a:xfrm>
          <a:prstGeom prst="rect">
            <a:avLst/>
          </a:prstGeom>
          <a:noFill/>
          <a:ln/>
        </p:spPr>
        <p:txBody>
          <a:bodyPr wrap="square" lIns="0" tIns="0" rIns="0" bIns="0" rtlCol="0" anchor="t"/>
          <a:lstStyle/>
          <a:p>
            <a:pPr indent="0" marL="0">
              <a:buNone/>
            </a:pPr>
            <a:r>
              <a:rPr lang="en-US" sz="1400" dirty="0">
                <a:solidFill>
                  <a:srgbClr val="1D232B"/>
                </a:solidFill>
                <a:latin typeface="Calibri" pitchFamily="34" charset="0"/>
                <a:ea typeface="Calibri" pitchFamily="34" charset="-122"/>
                <a:cs typeface="Calibri" pitchFamily="34" charset="-120"/>
              </a:rPr>
              <a:t>threads: console + marquee</a:t>
            </a:r>
            <a:endParaRPr lang="en-US" sz="1400" dirty="0"/>
          </a:p>
        </p:txBody>
      </p:sp>
      <p:sp>
        <p:nvSpPr>
          <p:cNvPr id="39" name="Shape 37"/>
          <p:cNvSpPr/>
          <p:nvPr/>
        </p:nvSpPr>
        <p:spPr>
          <a:xfrm>
            <a:off x="9765792" y="3977640"/>
            <a:ext cx="1874520" cy="2057400"/>
          </a:xfrm>
          <a:prstGeom prst="roundRect">
            <a:avLst>
              <a:gd name="adj" fmla="val 3902"/>
            </a:avLst>
          </a:prstGeom>
          <a:solidFill>
            <a:srgbClr val="FFF3DD"/>
          </a:solidFill>
          <a:ln w="12700">
            <a:solidFill>
              <a:srgbClr val="FFF3DD"/>
            </a:solidFill>
            <a:prstDash val="solid"/>
          </a:ln>
        </p:spPr>
      </p:sp>
      <p:sp>
        <p:nvSpPr>
          <p:cNvPr id="40" name="Text 38"/>
          <p:cNvSpPr txBox="1"/>
          <p:nvPr/>
        </p:nvSpPr>
        <p:spPr>
          <a:xfrm>
            <a:off x="9902952" y="4297680"/>
            <a:ext cx="1600200" cy="822960"/>
          </a:xfrm>
          <a:prstGeom prst="rect">
            <a:avLst/>
          </a:prstGeom>
          <a:noFill/>
          <a:ln/>
        </p:spPr>
        <p:txBody>
          <a:bodyPr wrap="square" lIns="0" tIns="0" rIns="0" bIns="0" rtlCol="0" anchor="ctr"/>
          <a:lstStyle/>
          <a:p>
            <a:pPr indent="0" marL="0">
              <a:buNone/>
            </a:pPr>
            <a:r>
              <a:rPr lang="en-US" sz="4000" b="1" dirty="0">
                <a:solidFill>
                  <a:srgbClr val="A35F00"/>
                </a:solidFill>
                <a:latin typeface="Calibri" pitchFamily="34" charset="0"/>
                <a:ea typeface="Calibri" pitchFamily="34" charset="-122"/>
                <a:cs typeface="Calibri" pitchFamily="34" charset="-120"/>
              </a:rPr>
              <a:t>56 / 56</a:t>
            </a:r>
            <a:endParaRPr lang="en-US" sz="4000" dirty="0"/>
          </a:p>
        </p:txBody>
      </p:sp>
      <p:sp>
        <p:nvSpPr>
          <p:cNvPr id="41" name="Text 39"/>
          <p:cNvSpPr txBox="1"/>
          <p:nvPr/>
        </p:nvSpPr>
        <p:spPr>
          <a:xfrm>
            <a:off x="9902952" y="5166360"/>
            <a:ext cx="1600200" cy="640080"/>
          </a:xfrm>
          <a:prstGeom prst="rect">
            <a:avLst/>
          </a:prstGeom>
          <a:noFill/>
          <a:ln/>
        </p:spPr>
        <p:txBody>
          <a:bodyPr wrap="square" lIns="0" tIns="0" rIns="0" bIns="0" rtlCol="0" anchor="t"/>
          <a:lstStyle/>
          <a:p>
            <a:pPr indent="0" marL="0">
              <a:buNone/>
            </a:pPr>
            <a:r>
              <a:rPr lang="en-US" sz="1400" dirty="0">
                <a:solidFill>
                  <a:srgbClr val="1D232B"/>
                </a:solidFill>
                <a:latin typeface="Calibri" pitchFamily="34" charset="0"/>
                <a:ea typeface="Calibri" pitchFamily="34" charset="-122"/>
                <a:cs typeface="Calibri" pitchFamily="34" charset="-120"/>
              </a:rPr>
              <a:t>smoke-test checks pass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01 / CONSOLE UI IMPLEMENTATION</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Console UI: a shell-style transcript</a:t>
            </a:r>
            <a:endParaRPr lang="en-US" sz="3200" dirty="0"/>
          </a:p>
        </p:txBody>
      </p:sp>
      <p:sp>
        <p:nvSpPr>
          <p:cNvPr id="4" name="Shape 2"/>
          <p:cNvSpPr/>
          <p:nvPr/>
        </p:nvSpPr>
        <p:spPr>
          <a:xfrm>
            <a:off x="548640" y="1417320"/>
            <a:ext cx="5669280" cy="4937760"/>
          </a:xfrm>
          <a:prstGeom prst="roundRect">
            <a:avLst>
              <a:gd name="adj" fmla="val 1481"/>
            </a:avLst>
          </a:prstGeom>
          <a:solidFill>
            <a:srgbClr val="1B2028"/>
          </a:solidFill>
          <a:ln w="12700">
            <a:solidFill>
              <a:srgbClr val="1B2028"/>
            </a:solidFill>
            <a:prstDash val="solid"/>
          </a:ln>
        </p:spPr>
      </p:sp>
      <p:sp>
        <p:nvSpPr>
          <p:cNvPr id="5" name="Shape 3"/>
          <p:cNvSpPr/>
          <p:nvPr/>
        </p:nvSpPr>
        <p:spPr>
          <a:xfrm>
            <a:off x="731520" y="1563624"/>
            <a:ext cx="109728" cy="109728"/>
          </a:xfrm>
          <a:prstGeom prst="ellipse">
            <a:avLst/>
          </a:prstGeom>
          <a:solidFill>
            <a:srgbClr val="FF5F57"/>
          </a:solidFill>
          <a:ln w="12700">
            <a:solidFill>
              <a:srgbClr val="FF5F57"/>
            </a:solidFill>
            <a:prstDash val="solid"/>
          </a:ln>
        </p:spPr>
      </p:sp>
      <p:sp>
        <p:nvSpPr>
          <p:cNvPr id="6" name="Shape 4"/>
          <p:cNvSpPr/>
          <p:nvPr/>
        </p:nvSpPr>
        <p:spPr>
          <a:xfrm>
            <a:off x="914400" y="1563624"/>
            <a:ext cx="109728" cy="109728"/>
          </a:xfrm>
          <a:prstGeom prst="ellipse">
            <a:avLst/>
          </a:prstGeom>
          <a:solidFill>
            <a:srgbClr val="FEBC2E"/>
          </a:solidFill>
          <a:ln w="12700">
            <a:solidFill>
              <a:srgbClr val="FEBC2E"/>
            </a:solidFill>
            <a:prstDash val="solid"/>
          </a:ln>
        </p:spPr>
      </p:sp>
      <p:sp>
        <p:nvSpPr>
          <p:cNvPr id="7" name="Shape 5"/>
          <p:cNvSpPr/>
          <p:nvPr/>
        </p:nvSpPr>
        <p:spPr>
          <a:xfrm>
            <a:off x="1097280" y="1563624"/>
            <a:ext cx="109728" cy="109728"/>
          </a:xfrm>
          <a:prstGeom prst="ellipse">
            <a:avLst/>
          </a:prstGeom>
          <a:solidFill>
            <a:srgbClr val="28C840"/>
          </a:solidFill>
          <a:ln w="12700">
            <a:solidFill>
              <a:srgbClr val="28C840"/>
            </a:solidFill>
            <a:prstDash val="solid"/>
          </a:ln>
        </p:spPr>
      </p:sp>
      <p:sp>
        <p:nvSpPr>
          <p:cNvPr id="8" name="Text 6"/>
          <p:cNvSpPr txBox="1"/>
          <p:nvPr/>
        </p:nvSpPr>
        <p:spPr>
          <a:xfrm>
            <a:off x="1371600" y="1499616"/>
            <a:ext cx="4663440"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marquee.exe  -  120 x 30</a:t>
            </a:r>
            <a:endParaRPr lang="en-US" sz="1000" dirty="0"/>
          </a:p>
        </p:txBody>
      </p:sp>
      <p:sp>
        <p:nvSpPr>
          <p:cNvPr id="9" name="Text 7"/>
          <p:cNvSpPr txBox="1"/>
          <p:nvPr/>
        </p:nvSpPr>
        <p:spPr>
          <a:xfrm>
            <a:off x="777240" y="1837944"/>
            <a:ext cx="5303520" cy="4389120"/>
          </a:xfrm>
          <a:prstGeom prst="rect">
            <a:avLst/>
          </a:prstGeom>
          <a:noFill/>
          <a:ln/>
        </p:spPr>
        <p:txBody>
          <a:bodyPr wrap="square" lIns="0" tIns="0" rIns="0" bIns="0" rtlCol="0" anchor="t"/>
          <a:lstStyle/>
          <a:p>
            <a:pPr indent="0" marL="0">
              <a:lnSpc>
                <a:spcPts val="1250"/>
              </a:lnSpc>
              <a:buNone/>
            </a:pPr>
            <a:r>
              <a:rPr lang="en-US" sz="1050" dirty="0">
                <a:solidFill>
                  <a:srgbClr val="FFFFFF"/>
                </a:solidFill>
                <a:latin typeface="Courier New" pitchFamily="34" charset="0"/>
                <a:ea typeface="Courier New" pitchFamily="34" charset="-122"/>
                <a:cs typeface="Courier New" pitchFamily="34" charset="-120"/>
              </a:rPr>
              <a:t>Welcome to CSOPESY!</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Group developer:</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Obcena, Hans Gabriel</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Suerte, Lorenzo Enrique</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Cordero, Ramuel Sean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Eleydo, Renzel Vince</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Version date: 2026-09-21</a:t>
            </a:r>
            <a:endParaRPr lang="en-US" sz="1050" dirty="0"/>
          </a:p>
          <a:p>
            <a:pPr indent="0" marL="0">
              <a:lnSpc>
                <a:spcPts val="1250"/>
              </a:lnSpc>
              <a:buNone/>
            </a:pPr>
            <a:r>
              <a:rPr lang="en-US" sz="1050" dirty="0">
                <a:solidFill>
                  <a:srgbClr val="7D8896"/>
                </a:solidFill>
                <a:latin typeface="Courier New" pitchFamily="34" charset="0"/>
                <a:ea typeface="Courier New" pitchFamily="34" charset="-122"/>
                <a:cs typeface="Courier New" pitchFamily="34" charset="-120"/>
              </a:rPr>
              <a:t>Config: text "Hello, World!", refresh 100 ms, polling 10 ms</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7BD88F"/>
                </a:solidFill>
                <a:latin typeface="Courier New" pitchFamily="34" charset="0"/>
                <a:ea typeface="Courier New" pitchFamily="34" charset="-122"/>
                <a:cs typeface="Courier New" pitchFamily="34" charset="-120"/>
              </a:rPr>
              <a:t>Command&gt; </a:t>
            </a:r>
            <a:pPr indent="0" marL="0">
              <a:lnSpc>
                <a:spcPts val="1250"/>
              </a:lnSpc>
              <a:buNone/>
            </a:pPr>
            <a:r>
              <a:rPr lang="en-US" sz="1050" dirty="0">
                <a:solidFill>
                  <a:srgbClr val="FFFFFF"/>
                </a:solidFill>
                <a:latin typeface="Courier New" pitchFamily="34" charset="0"/>
                <a:ea typeface="Courier New" pitchFamily="34" charset="-122"/>
                <a:cs typeface="Courier New" pitchFamily="34" charset="-120"/>
              </a:rPr>
              <a:t>help</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help - displays the commands and its description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start_marquee - starts the marquee "animation"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stop_marquee - stops the marquee "animation"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set_text - accepts a text input and displays it as a marquee</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set_speed - sets the marquee animation refresh in milliseconds</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exit - terminates the console</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7BD88F"/>
                </a:solidFill>
                <a:latin typeface="Courier New" pitchFamily="34" charset="0"/>
                <a:ea typeface="Courier New" pitchFamily="34" charset="-122"/>
                <a:cs typeface="Courier New" pitchFamily="34" charset="-120"/>
              </a:rPr>
              <a:t>Command&gt; </a:t>
            </a:r>
            <a:pPr indent="0" marL="0">
              <a:lnSpc>
                <a:spcPts val="1250"/>
              </a:lnSpc>
              <a:buNone/>
            </a:pPr>
            <a:r>
              <a:rPr lang="en-US" sz="1050" dirty="0">
                <a:solidFill>
                  <a:srgbClr val="FFFFFF"/>
                </a:solidFill>
                <a:latin typeface="Courier New" pitchFamily="34" charset="0"/>
                <a:ea typeface="Courier New" pitchFamily="34" charset="-122"/>
                <a:cs typeface="Courier New" pitchFamily="34" charset="-120"/>
              </a:rPr>
              <a:t>set_text Operating Systems are fun!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Text saved for marquee: Operating Systems are fun!</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7BD88F"/>
                </a:solidFill>
                <a:latin typeface="Courier New" pitchFamily="34" charset="0"/>
                <a:ea typeface="Courier New" pitchFamily="34" charset="-122"/>
                <a:cs typeface="Courier New" pitchFamily="34" charset="-120"/>
              </a:rPr>
              <a:t>Command&gt; </a:t>
            </a:r>
            <a:pPr indent="0" marL="0">
              <a:lnSpc>
                <a:spcPts val="1250"/>
              </a:lnSpc>
              <a:buNone/>
            </a:pPr>
            <a:r>
              <a:rPr lang="en-US" sz="1050" b="1" dirty="0">
                <a:solidFill>
                  <a:srgbClr val="F5A524"/>
                </a:solidFill>
                <a:latin typeface="Courier New" pitchFamily="34" charset="0"/>
                <a:ea typeface="Courier New" pitchFamily="34" charset="-122"/>
                <a:cs typeface="Courier New" pitchFamily="34" charset="-120"/>
              </a:rPr>
              <a:t>_</a:t>
            </a:r>
            <a:endParaRPr lang="en-US" sz="1050" dirty="0"/>
          </a:p>
        </p:txBody>
      </p:sp>
      <p:sp>
        <p:nvSpPr>
          <p:cNvPr id="10" name="Shape 8"/>
          <p:cNvSpPr/>
          <p:nvPr/>
        </p:nvSpPr>
        <p:spPr>
          <a:xfrm>
            <a:off x="6629400" y="1481328"/>
            <a:ext cx="384048" cy="384048"/>
          </a:xfrm>
          <a:prstGeom prst="ellipse">
            <a:avLst/>
          </a:prstGeom>
          <a:solidFill>
            <a:srgbClr val="1D232B"/>
          </a:solidFill>
          <a:ln w="12700">
            <a:solidFill>
              <a:srgbClr val="1D232B"/>
            </a:solidFill>
            <a:prstDash val="solid"/>
          </a:ln>
        </p:spPr>
      </p:sp>
      <p:sp>
        <p:nvSpPr>
          <p:cNvPr id="11" name="Text 9"/>
          <p:cNvSpPr txBox="1"/>
          <p:nvPr/>
        </p:nvSpPr>
        <p:spPr>
          <a:xfrm>
            <a:off x="662940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2" name="Text 10"/>
          <p:cNvSpPr txBox="1"/>
          <p:nvPr/>
        </p:nvSpPr>
        <p:spPr>
          <a:xfrm>
            <a:off x="7196328" y="1463040"/>
            <a:ext cx="4446727" cy="114300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Welcome header</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header_text() prints the sample's layout: banner, "Group developer:" with the four members, and "Version date:". A Config: line then shows the values loaded from config.txt.</a:t>
            </a:r>
            <a:endParaRPr lang="en-US" sz="1500" dirty="0"/>
          </a:p>
        </p:txBody>
      </p:sp>
      <p:sp>
        <p:nvSpPr>
          <p:cNvPr id="13" name="Shape 11"/>
          <p:cNvSpPr/>
          <p:nvPr/>
        </p:nvSpPr>
        <p:spPr>
          <a:xfrm>
            <a:off x="6629400" y="2715768"/>
            <a:ext cx="384048" cy="384048"/>
          </a:xfrm>
          <a:prstGeom prst="ellipse">
            <a:avLst/>
          </a:prstGeom>
          <a:solidFill>
            <a:srgbClr val="1D232B"/>
          </a:solidFill>
          <a:ln w="12700">
            <a:solidFill>
              <a:srgbClr val="1D232B"/>
            </a:solidFill>
            <a:prstDash val="solid"/>
          </a:ln>
        </p:spPr>
      </p:sp>
      <p:sp>
        <p:nvSpPr>
          <p:cNvPr id="14" name="Text 12"/>
          <p:cNvSpPr txBox="1"/>
          <p:nvPr/>
        </p:nvSpPr>
        <p:spPr>
          <a:xfrm>
            <a:off x="662940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5" name="Text 13"/>
          <p:cNvSpPr txBox="1"/>
          <p:nvPr/>
        </p:nvSpPr>
        <p:spPr>
          <a:xfrm>
            <a:off x="7196328" y="2697480"/>
            <a:ext cx="4446727" cy="12344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Prompt and line editor</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"Command&gt; " is printed and each key is read with _kbhit()/_getch(). The line is redrawn in place (\r, ESC[2K, prompt + text). Backspace edits, arrow and F-keys are ignored, and long lines show only their tail.</a:t>
            </a:r>
            <a:endParaRPr lang="en-US" sz="1500" dirty="0"/>
          </a:p>
        </p:txBody>
      </p:sp>
      <p:sp>
        <p:nvSpPr>
          <p:cNvPr id="16" name="Shape 14"/>
          <p:cNvSpPr/>
          <p:nvPr/>
        </p:nvSpPr>
        <p:spPr>
          <a:xfrm>
            <a:off x="6629400" y="4041648"/>
            <a:ext cx="384048" cy="384048"/>
          </a:xfrm>
          <a:prstGeom prst="ellipse">
            <a:avLst/>
          </a:prstGeom>
          <a:solidFill>
            <a:srgbClr val="1D232B"/>
          </a:solidFill>
          <a:ln w="12700">
            <a:solidFill>
              <a:srgbClr val="1D232B"/>
            </a:solidFill>
            <a:prstDash val="solid"/>
          </a:ln>
        </p:spPr>
      </p:sp>
      <p:sp>
        <p:nvSpPr>
          <p:cNvPr id="17" name="Text 15"/>
          <p:cNvSpPr txBox="1"/>
          <p:nvPr/>
        </p:nvSpPr>
        <p:spPr>
          <a:xfrm>
            <a:off x="662940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8" name="Text 16"/>
          <p:cNvSpPr txBox="1"/>
          <p:nvPr/>
        </p:nvSpPr>
        <p:spPr>
          <a:xfrm>
            <a:off x="7196328" y="4023360"/>
            <a:ext cx="4446727" cy="105156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Scrolls like a real shell</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Output scrolls upward inside an ANSI scroll region (ESC[1;21r), so commands and replies behave like PowerShell or cmd while the marquee keeps the bottom rows.</a:t>
            </a:r>
            <a:endParaRPr lang="en-US" sz="1500" dirty="0"/>
          </a:p>
        </p:txBody>
      </p:sp>
      <p:sp>
        <p:nvSpPr>
          <p:cNvPr id="19" name="Shape 17"/>
          <p:cNvSpPr/>
          <p:nvPr/>
        </p:nvSpPr>
        <p:spPr>
          <a:xfrm>
            <a:off x="6629400" y="5184648"/>
            <a:ext cx="384048" cy="384048"/>
          </a:xfrm>
          <a:prstGeom prst="ellipse">
            <a:avLst/>
          </a:prstGeom>
          <a:solidFill>
            <a:srgbClr val="1D232B"/>
          </a:solidFill>
          <a:ln w="12700">
            <a:solidFill>
              <a:srgbClr val="1D232B"/>
            </a:solidFill>
            <a:prstDash val="solid"/>
          </a:ln>
        </p:spPr>
      </p:sp>
      <p:sp>
        <p:nvSpPr>
          <p:cNvPr id="20" name="Text 18"/>
          <p:cNvSpPr txBox="1"/>
          <p:nvPr/>
        </p:nvSpPr>
        <p:spPr>
          <a:xfrm>
            <a:off x="6629400" y="5184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1" name="Text 19"/>
          <p:cNvSpPr txBox="1"/>
          <p:nvPr/>
        </p:nvSpPr>
        <p:spPr>
          <a:xfrm>
            <a:off x="7196328" y="5166360"/>
            <a:ext cx="4446727" cy="91440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Clean exit</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exit, Ctrl+C or closing the window clears the marquee rows and resets the region (ESC[r), leaving a normal console.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02 / COMMAND INTERPRETER IMPLEMENTATION</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Command interpreter: from keystroke to command</a:t>
            </a:r>
            <a:endParaRPr lang="en-US" sz="3200" dirty="0"/>
          </a:p>
        </p:txBody>
      </p:sp>
      <p:sp>
        <p:nvSpPr>
          <p:cNvPr id="4" name="Shape 2"/>
          <p:cNvSpPr/>
          <p:nvPr/>
        </p:nvSpPr>
        <p:spPr>
          <a:xfrm>
            <a:off x="548640" y="1417320"/>
            <a:ext cx="1984797" cy="960120"/>
          </a:xfrm>
          <a:prstGeom prst="roundRect">
            <a:avLst>
              <a:gd name="adj" fmla="val 7619"/>
            </a:avLst>
          </a:prstGeom>
          <a:solidFill>
            <a:srgbClr val="F2F4F7"/>
          </a:solidFill>
          <a:ln w="12700">
            <a:solidFill>
              <a:srgbClr val="F2F4F7"/>
            </a:solidFill>
            <a:prstDash val="solid"/>
          </a:ln>
        </p:spPr>
      </p:sp>
      <p:sp>
        <p:nvSpPr>
          <p:cNvPr id="5" name="Text 3"/>
          <p:cNvSpPr txBox="1"/>
          <p:nvPr/>
        </p:nvSpPr>
        <p:spPr>
          <a:xfrm>
            <a:off x="676656" y="1490472"/>
            <a:ext cx="1728765" cy="813816"/>
          </a:xfrm>
          <a:prstGeom prst="rect">
            <a:avLst/>
          </a:prstGeom>
          <a:noFill/>
          <a:ln/>
        </p:spPr>
        <p:txBody>
          <a:bodyPr wrap="square" lIns="0" tIns="0" rIns="0" bIns="0" rtlCol="0" anchor="ctr"/>
          <a:lstStyle/>
          <a:p>
            <a:pPr indent="0" marL="0">
              <a:buNone/>
            </a:pPr>
            <a:r>
              <a:rPr lang="en-US" sz="1500" b="1" dirty="0">
                <a:solidFill>
                  <a:srgbClr val="1D232B"/>
                </a:solidFill>
                <a:latin typeface="Calibri" pitchFamily="34" charset="0"/>
                <a:ea typeface="Calibri" pitchFamily="34" charset="-122"/>
                <a:cs typeface="Calibri" pitchFamily="34" charset="-120"/>
              </a:rPr>
              <a:t>Poll</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_kbhit() every</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polling-rate ms</a:t>
            </a:r>
            <a:endParaRPr lang="en-US" sz="1500" dirty="0"/>
          </a:p>
        </p:txBody>
      </p:sp>
      <p:sp>
        <p:nvSpPr>
          <p:cNvPr id="6" name="Shape 4"/>
          <p:cNvSpPr/>
          <p:nvPr/>
        </p:nvSpPr>
        <p:spPr>
          <a:xfrm>
            <a:off x="2579157" y="1805940"/>
            <a:ext cx="201168" cy="182880"/>
          </a:xfrm>
          <a:prstGeom prst="rightArrow">
            <a:avLst/>
          </a:prstGeom>
          <a:solidFill>
            <a:srgbClr val="A35F00"/>
          </a:solidFill>
          <a:ln w="12700">
            <a:solidFill>
              <a:srgbClr val="A35F00"/>
            </a:solidFill>
            <a:prstDash val="solid"/>
          </a:ln>
        </p:spPr>
      </p:sp>
      <p:sp>
        <p:nvSpPr>
          <p:cNvPr id="7" name="Shape 5"/>
          <p:cNvSpPr/>
          <p:nvPr/>
        </p:nvSpPr>
        <p:spPr>
          <a:xfrm>
            <a:off x="2826045" y="1417320"/>
            <a:ext cx="1984797" cy="960120"/>
          </a:xfrm>
          <a:prstGeom prst="roundRect">
            <a:avLst>
              <a:gd name="adj" fmla="val 7619"/>
            </a:avLst>
          </a:prstGeom>
          <a:solidFill>
            <a:srgbClr val="F2F4F7"/>
          </a:solidFill>
          <a:ln w="12700">
            <a:solidFill>
              <a:srgbClr val="F2F4F7"/>
            </a:solidFill>
            <a:prstDash val="solid"/>
          </a:ln>
        </p:spPr>
      </p:sp>
      <p:sp>
        <p:nvSpPr>
          <p:cNvPr id="8" name="Text 6"/>
          <p:cNvSpPr txBox="1"/>
          <p:nvPr/>
        </p:nvSpPr>
        <p:spPr>
          <a:xfrm>
            <a:off x="2954061" y="1490472"/>
            <a:ext cx="1728765" cy="813816"/>
          </a:xfrm>
          <a:prstGeom prst="rect">
            <a:avLst/>
          </a:prstGeom>
          <a:noFill/>
          <a:ln/>
        </p:spPr>
        <p:txBody>
          <a:bodyPr wrap="square" lIns="0" tIns="0" rIns="0" bIns="0" rtlCol="0" anchor="ctr"/>
          <a:lstStyle/>
          <a:p>
            <a:pPr indent="0" marL="0">
              <a:buNone/>
            </a:pPr>
            <a:r>
              <a:rPr lang="en-US" sz="1500" b="1" dirty="0">
                <a:solidFill>
                  <a:srgbClr val="1D232B"/>
                </a:solidFill>
                <a:latin typeface="Calibri" pitchFamily="34" charset="0"/>
                <a:ea typeface="Calibri" pitchFamily="34" charset="-122"/>
                <a:cs typeface="Calibri" pitchFamily="34" charset="-120"/>
              </a:rPr>
              <a:t>Read</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_getch() builds the</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line until Enter</a:t>
            </a:r>
            <a:endParaRPr lang="en-US" sz="1500" dirty="0"/>
          </a:p>
        </p:txBody>
      </p:sp>
      <p:sp>
        <p:nvSpPr>
          <p:cNvPr id="9" name="Shape 7"/>
          <p:cNvSpPr/>
          <p:nvPr/>
        </p:nvSpPr>
        <p:spPr>
          <a:xfrm>
            <a:off x="4856561" y="1805940"/>
            <a:ext cx="201168" cy="182880"/>
          </a:xfrm>
          <a:prstGeom prst="rightArrow">
            <a:avLst/>
          </a:prstGeom>
          <a:solidFill>
            <a:srgbClr val="A35F00"/>
          </a:solidFill>
          <a:ln w="12700">
            <a:solidFill>
              <a:srgbClr val="A35F00"/>
            </a:solidFill>
            <a:prstDash val="solid"/>
          </a:ln>
        </p:spPr>
      </p:sp>
      <p:sp>
        <p:nvSpPr>
          <p:cNvPr id="10" name="Shape 8"/>
          <p:cNvSpPr/>
          <p:nvPr/>
        </p:nvSpPr>
        <p:spPr>
          <a:xfrm>
            <a:off x="5103449" y="1417320"/>
            <a:ext cx="1984797" cy="960120"/>
          </a:xfrm>
          <a:prstGeom prst="roundRect">
            <a:avLst>
              <a:gd name="adj" fmla="val 7619"/>
            </a:avLst>
          </a:prstGeom>
          <a:solidFill>
            <a:srgbClr val="F2F4F7"/>
          </a:solidFill>
          <a:ln w="12700">
            <a:solidFill>
              <a:srgbClr val="F2F4F7"/>
            </a:solidFill>
            <a:prstDash val="solid"/>
          </a:ln>
        </p:spPr>
      </p:sp>
      <p:sp>
        <p:nvSpPr>
          <p:cNvPr id="11" name="Text 9"/>
          <p:cNvSpPr txBox="1"/>
          <p:nvPr/>
        </p:nvSpPr>
        <p:spPr>
          <a:xfrm>
            <a:off x="5231465" y="1490472"/>
            <a:ext cx="1728765" cy="813816"/>
          </a:xfrm>
          <a:prstGeom prst="rect">
            <a:avLst/>
          </a:prstGeom>
          <a:noFill/>
          <a:ln/>
        </p:spPr>
        <p:txBody>
          <a:bodyPr wrap="square" lIns="0" tIns="0" rIns="0" bIns="0" rtlCol="0" anchor="ctr"/>
          <a:lstStyle/>
          <a:p>
            <a:pPr indent="0" marL="0">
              <a:buNone/>
            </a:pPr>
            <a:r>
              <a:rPr lang="en-US" sz="1500" b="1" dirty="0">
                <a:solidFill>
                  <a:srgbClr val="1D232B"/>
                </a:solidFill>
                <a:latin typeface="Calibri" pitchFamily="34" charset="0"/>
                <a:ea typeface="Calibri" pitchFamily="34" charset="-122"/>
                <a:cs typeface="Calibri" pitchFamily="34" charset="-120"/>
              </a:rPr>
              <a:t>Trim</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text::trim() strips</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spaces, tabs, \r</a:t>
            </a:r>
            <a:endParaRPr lang="en-US" sz="1500" dirty="0"/>
          </a:p>
        </p:txBody>
      </p:sp>
      <p:sp>
        <p:nvSpPr>
          <p:cNvPr id="12" name="Shape 10"/>
          <p:cNvSpPr/>
          <p:nvPr/>
        </p:nvSpPr>
        <p:spPr>
          <a:xfrm>
            <a:off x="7133966" y="1805940"/>
            <a:ext cx="201168" cy="182880"/>
          </a:xfrm>
          <a:prstGeom prst="rightArrow">
            <a:avLst/>
          </a:prstGeom>
          <a:solidFill>
            <a:srgbClr val="A35F00"/>
          </a:solidFill>
          <a:ln w="12700">
            <a:solidFill>
              <a:srgbClr val="A35F00"/>
            </a:solidFill>
            <a:prstDash val="solid"/>
          </a:ln>
        </p:spPr>
      </p:sp>
      <p:sp>
        <p:nvSpPr>
          <p:cNvPr id="13" name="Shape 11"/>
          <p:cNvSpPr/>
          <p:nvPr/>
        </p:nvSpPr>
        <p:spPr>
          <a:xfrm>
            <a:off x="7380854" y="1417320"/>
            <a:ext cx="1984797" cy="960120"/>
          </a:xfrm>
          <a:prstGeom prst="roundRect">
            <a:avLst>
              <a:gd name="adj" fmla="val 7619"/>
            </a:avLst>
          </a:prstGeom>
          <a:solidFill>
            <a:srgbClr val="F2F4F7"/>
          </a:solidFill>
          <a:ln w="12700">
            <a:solidFill>
              <a:srgbClr val="F2F4F7"/>
            </a:solidFill>
            <a:prstDash val="solid"/>
          </a:ln>
        </p:spPr>
      </p:sp>
      <p:sp>
        <p:nvSpPr>
          <p:cNvPr id="14" name="Text 12"/>
          <p:cNvSpPr txBox="1"/>
          <p:nvPr/>
        </p:nvSpPr>
        <p:spPr>
          <a:xfrm>
            <a:off x="7508870" y="1490472"/>
            <a:ext cx="1728765" cy="813816"/>
          </a:xfrm>
          <a:prstGeom prst="rect">
            <a:avLst/>
          </a:prstGeom>
          <a:noFill/>
          <a:ln/>
        </p:spPr>
        <p:txBody>
          <a:bodyPr wrap="square" lIns="0" tIns="0" rIns="0" bIns="0" rtlCol="0" anchor="ctr"/>
          <a:lstStyle/>
          <a:p>
            <a:pPr indent="0" marL="0">
              <a:buNone/>
            </a:pPr>
            <a:r>
              <a:rPr lang="en-US" sz="1500" b="1" dirty="0">
                <a:solidFill>
                  <a:srgbClr val="1D232B"/>
                </a:solidFill>
                <a:latin typeface="Calibri" pitchFamily="34" charset="0"/>
                <a:ea typeface="Calibri" pitchFamily="34" charset="-122"/>
                <a:cs typeface="Calibri" pitchFamily="34" charset="-120"/>
              </a:rPr>
              <a:t>Split</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first whitespace →</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command | argument</a:t>
            </a:r>
            <a:endParaRPr lang="en-US" sz="1500" dirty="0"/>
          </a:p>
        </p:txBody>
      </p:sp>
      <p:sp>
        <p:nvSpPr>
          <p:cNvPr id="15" name="Shape 13"/>
          <p:cNvSpPr/>
          <p:nvPr/>
        </p:nvSpPr>
        <p:spPr>
          <a:xfrm>
            <a:off x="9411371" y="1805940"/>
            <a:ext cx="201168" cy="182880"/>
          </a:xfrm>
          <a:prstGeom prst="rightArrow">
            <a:avLst/>
          </a:prstGeom>
          <a:solidFill>
            <a:srgbClr val="A35F00"/>
          </a:solidFill>
          <a:ln w="12700">
            <a:solidFill>
              <a:srgbClr val="A35F00"/>
            </a:solidFill>
            <a:prstDash val="solid"/>
          </a:ln>
        </p:spPr>
      </p:sp>
      <p:sp>
        <p:nvSpPr>
          <p:cNvPr id="16" name="Shape 14"/>
          <p:cNvSpPr/>
          <p:nvPr/>
        </p:nvSpPr>
        <p:spPr>
          <a:xfrm>
            <a:off x="9658259" y="1417320"/>
            <a:ext cx="1984797" cy="960120"/>
          </a:xfrm>
          <a:prstGeom prst="roundRect">
            <a:avLst>
              <a:gd name="adj" fmla="val 7619"/>
            </a:avLst>
          </a:prstGeom>
          <a:solidFill>
            <a:srgbClr val="FFF3DD"/>
          </a:solidFill>
          <a:ln w="12700">
            <a:solidFill>
              <a:srgbClr val="FFF3DD"/>
            </a:solidFill>
            <a:prstDash val="solid"/>
          </a:ln>
        </p:spPr>
      </p:sp>
      <p:sp>
        <p:nvSpPr>
          <p:cNvPr id="17" name="Text 15"/>
          <p:cNvSpPr txBox="1"/>
          <p:nvPr/>
        </p:nvSpPr>
        <p:spPr>
          <a:xfrm>
            <a:off x="9786275" y="1490472"/>
            <a:ext cx="1728765" cy="813816"/>
          </a:xfrm>
          <a:prstGeom prst="rect">
            <a:avLst/>
          </a:prstGeom>
          <a:noFill/>
          <a:ln/>
        </p:spPr>
        <p:txBody>
          <a:bodyPr wrap="square" lIns="0" tIns="0" rIns="0" bIns="0" rtlCol="0" anchor="ctr"/>
          <a:lstStyle/>
          <a:p>
            <a:pPr indent="0" marL="0">
              <a:buNone/>
            </a:pPr>
            <a:r>
              <a:rPr lang="en-US" sz="1500" b="1" dirty="0">
                <a:solidFill>
                  <a:srgbClr val="1D232B"/>
                </a:solidFill>
                <a:latin typeface="Calibri" pitchFamily="34" charset="0"/>
                <a:ea typeface="Calibri" pitchFamily="34" charset="-122"/>
                <a:cs typeface="Calibri" pitchFamily="34" charset="-120"/>
              </a:rPr>
              <a:t>Dispatch</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command == "help"</a:t>
            </a:r>
            <a:endParaRPr lang="en-US" sz="1500" dirty="0"/>
          </a:p>
          <a:p>
            <a:pPr indent="0" marL="0">
              <a:buNone/>
            </a:pPr>
            <a:r>
              <a:rPr lang="en-US" sz="1050" dirty="0">
                <a:solidFill>
                  <a:srgbClr val="5F6B78"/>
                </a:solidFill>
                <a:latin typeface="Courier New" pitchFamily="34" charset="0"/>
                <a:ea typeface="Courier New" pitchFamily="34" charset="-122"/>
                <a:cs typeface="Courier New" pitchFamily="34" charset="-120"/>
              </a:rPr>
              <a:t>… std::string compare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94415" cy="914400"/>
        </p:xfrm>
        <a:graphic>
          <a:graphicData uri="http://schemas.openxmlformats.org/drawingml/2006/table">
            <a:tbl>
              <a:tblPr/>
              <a:tblGrid>
                <a:gridCol w="2148840"/>
                <a:gridCol w="4572000"/>
                <a:gridCol w="4370832"/>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interpreter does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Console reply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help</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Prints the six commands and their descriptions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help - displays the commands and its description …</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start_marquee</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marquee_.start(): running = true, draw a frame at once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Marquee animation started.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stop_marquee</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marquee_.stop(): running = false, clear rows 23–30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Marquee animation stopped.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set_text &lt;text&gt;</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Keeps the rest of the line (inner spaces kept); empty → usage error</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Text saved for marquee: &lt;text&gt;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set_speed &lt;ms&gt;</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parse_milliseconds(): digits only, 1 to 999,999,999</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Marquee speed set to &lt;ms&gt; milliseconds.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exit</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Returns false: loop ends, thread joined, screen restored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Terminating console...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93192">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anything else</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No match (case-sensitive, like the sample)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Unrecognized command: &lt;word&gt;. Type 'help' …</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548640" y="5897880"/>
            <a:ext cx="11094415" cy="457200"/>
          </a:xfrm>
          <a:prstGeom prst="rect">
            <a:avLst/>
          </a:prstGeom>
          <a:noFill/>
          <a:ln/>
        </p:spPr>
        <p:txBody>
          <a:bodyPr wrap="square" lIns="0" tIns="0" rIns="0" bIns="0" rtlCol="0" anchor="ctr"/>
          <a:lstStyle/>
          <a:p>
            <a:pPr indent="0" marL="0">
              <a:buNone/>
            </a:pPr>
            <a:r>
              <a:rPr lang="en-US" sz="1200" i="1" dirty="0">
                <a:solidFill>
                  <a:srgbClr val="5F6B78"/>
                </a:solidFill>
                <a:latin typeface="Calibri" pitchFamily="34" charset="0"/>
                <a:ea typeface="Calibri" pitchFamily="34" charset="-122"/>
                <a:cs typeface="Calibri" pitchFamily="34" charset="-120"/>
              </a:rPr>
              <a:t>Hidden diagnostics for this report: stats and set_poll &lt;ms&gt; (not listed by help). Invalid set_speed values (abc, 0, -5, 10x, empty) print a usage error and keep the old speed.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03 / DISPLAY IMPLEMENTATION</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Display: two screen regions, one lock</a:t>
            </a:r>
            <a:endParaRPr lang="en-US" sz="3200" dirty="0"/>
          </a:p>
        </p:txBody>
      </p:sp>
      <p:sp>
        <p:nvSpPr>
          <p:cNvPr id="4" name="Shape 2"/>
          <p:cNvSpPr/>
          <p:nvPr/>
        </p:nvSpPr>
        <p:spPr>
          <a:xfrm>
            <a:off x="548640" y="1417320"/>
            <a:ext cx="6172200" cy="4160520"/>
          </a:xfrm>
          <a:prstGeom prst="roundRect">
            <a:avLst>
              <a:gd name="adj" fmla="val 1758"/>
            </a:avLst>
          </a:prstGeom>
          <a:solidFill>
            <a:srgbClr val="1B2028"/>
          </a:solidFill>
          <a:ln w="12700">
            <a:solidFill>
              <a:srgbClr val="1B2028"/>
            </a:solidFill>
            <a:prstDash val="solid"/>
          </a:ln>
        </p:spPr>
      </p:sp>
      <p:sp>
        <p:nvSpPr>
          <p:cNvPr id="5" name="Shape 3"/>
          <p:cNvSpPr/>
          <p:nvPr/>
        </p:nvSpPr>
        <p:spPr>
          <a:xfrm>
            <a:off x="731520" y="1563624"/>
            <a:ext cx="109728" cy="109728"/>
          </a:xfrm>
          <a:prstGeom prst="ellipse">
            <a:avLst/>
          </a:prstGeom>
          <a:solidFill>
            <a:srgbClr val="FF5F57"/>
          </a:solidFill>
          <a:ln w="12700">
            <a:solidFill>
              <a:srgbClr val="FF5F57"/>
            </a:solidFill>
            <a:prstDash val="solid"/>
          </a:ln>
        </p:spPr>
      </p:sp>
      <p:sp>
        <p:nvSpPr>
          <p:cNvPr id="6" name="Shape 4"/>
          <p:cNvSpPr/>
          <p:nvPr/>
        </p:nvSpPr>
        <p:spPr>
          <a:xfrm>
            <a:off x="914400" y="1563624"/>
            <a:ext cx="109728" cy="109728"/>
          </a:xfrm>
          <a:prstGeom prst="ellipse">
            <a:avLst/>
          </a:prstGeom>
          <a:solidFill>
            <a:srgbClr val="FEBC2E"/>
          </a:solidFill>
          <a:ln w="12700">
            <a:solidFill>
              <a:srgbClr val="FEBC2E"/>
            </a:solidFill>
            <a:prstDash val="solid"/>
          </a:ln>
        </p:spPr>
      </p:sp>
      <p:sp>
        <p:nvSpPr>
          <p:cNvPr id="7" name="Shape 5"/>
          <p:cNvSpPr/>
          <p:nvPr/>
        </p:nvSpPr>
        <p:spPr>
          <a:xfrm>
            <a:off x="1097280" y="1563624"/>
            <a:ext cx="109728" cy="109728"/>
          </a:xfrm>
          <a:prstGeom prst="ellipse">
            <a:avLst/>
          </a:prstGeom>
          <a:solidFill>
            <a:srgbClr val="28C840"/>
          </a:solidFill>
          <a:ln w="12700">
            <a:solidFill>
              <a:srgbClr val="28C840"/>
            </a:solidFill>
            <a:prstDash val="solid"/>
          </a:ln>
        </p:spPr>
      </p:sp>
      <p:sp>
        <p:nvSpPr>
          <p:cNvPr id="8" name="Text 6"/>
          <p:cNvSpPr txBox="1"/>
          <p:nvPr/>
        </p:nvSpPr>
        <p:spPr>
          <a:xfrm>
            <a:off x="1371600" y="1499616"/>
            <a:ext cx="5166360"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actual screen, marquee running (first 100 of 120 columns)</a:t>
            </a:r>
            <a:endParaRPr lang="en-US" sz="1000" dirty="0"/>
          </a:p>
        </p:txBody>
      </p:sp>
      <p:sp>
        <p:nvSpPr>
          <p:cNvPr id="9" name="Text 7"/>
          <p:cNvSpPr txBox="1"/>
          <p:nvPr/>
        </p:nvSpPr>
        <p:spPr>
          <a:xfrm>
            <a:off x="777240" y="1837944"/>
            <a:ext cx="5806440" cy="3611880"/>
          </a:xfrm>
          <a:prstGeom prst="rect">
            <a:avLst/>
          </a:prstGeom>
          <a:noFill/>
          <a:ln/>
        </p:spPr>
        <p:txBody>
          <a:bodyPr wrap="square" lIns="0" tIns="0" rIns="0" bIns="0" rtlCol="0" anchor="t"/>
          <a:lstStyle/>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Welcome to CSOPESY!</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Group developer:</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Obcena, Hans Gabriel</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Suerte, Lorenzo Enrique</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Cordero, Ramuel Sean</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Eleydo, Renzel Vince</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Version date: 2026-09-21</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Config: text "Hello, World!", refresh 100 ms, polling 10 ms</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7BD88F"/>
                </a:solidFill>
                <a:latin typeface="Courier New" pitchFamily="34" charset="0"/>
                <a:ea typeface="Courier New" pitchFamily="34" charset="-122"/>
                <a:cs typeface="Courier New" pitchFamily="34" charset="-120"/>
              </a:rPr>
              <a:t>Command&gt; </a:t>
            </a:r>
            <a:pPr indent="0" marL="0">
              <a:lnSpc>
                <a:spcPts val="900"/>
              </a:lnSpc>
              <a:buNone/>
            </a:pPr>
            <a:r>
              <a:rPr lang="en-US" sz="750" dirty="0">
                <a:solidFill>
                  <a:srgbClr val="FFFFFF"/>
                </a:solidFill>
                <a:latin typeface="Courier New" pitchFamily="34" charset="0"/>
                <a:ea typeface="Courier New" pitchFamily="34" charset="-122"/>
                <a:cs typeface="Courier New" pitchFamily="34" charset="-120"/>
              </a:rPr>
              <a:t>set_text Operating Systems are fun!</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Text saved for marquee: Operating Systems are fun!</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7BD88F"/>
                </a:solidFill>
                <a:latin typeface="Courier New" pitchFamily="34" charset="0"/>
                <a:ea typeface="Courier New" pitchFamily="34" charset="-122"/>
                <a:cs typeface="Courier New" pitchFamily="34" charset="-120"/>
              </a:rPr>
              <a:t>Command&gt; </a:t>
            </a:r>
            <a:pPr indent="0" marL="0">
              <a:lnSpc>
                <a:spcPts val="900"/>
              </a:lnSpc>
              <a:buNone/>
            </a:pPr>
            <a:r>
              <a:rPr lang="en-US" sz="750" dirty="0">
                <a:solidFill>
                  <a:srgbClr val="FFFFFF"/>
                </a:solidFill>
                <a:latin typeface="Courier New" pitchFamily="34" charset="0"/>
                <a:ea typeface="Courier New" pitchFamily="34" charset="-122"/>
                <a:cs typeface="Courier New" pitchFamily="34" charset="-120"/>
              </a:rPr>
              <a:t>start_marquee</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Marquee animation started.</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7BD88F"/>
                </a:solidFill>
                <a:latin typeface="Courier New" pitchFamily="34" charset="0"/>
                <a:ea typeface="Courier New" pitchFamily="34" charset="-122"/>
                <a:cs typeface="Courier New" pitchFamily="34" charset="-120"/>
              </a:rPr>
              <a:t>Command&gt; </a:t>
            </a:r>
            <a:pPr indent="0" marL="0">
              <a:lnSpc>
                <a:spcPts val="900"/>
              </a:lnSpc>
              <a:buNone/>
            </a:pPr>
            <a:r>
              <a:rPr lang="en-US" sz="750" dirty="0">
                <a:solidFill>
                  <a:srgbClr val="FFFFFF"/>
                </a:solidFill>
                <a:latin typeface="Courier New" pitchFamily="34" charset="0"/>
                <a:ea typeface="Courier New" pitchFamily="34" charset="-122"/>
                <a:cs typeface="Courier New" pitchFamily="34" charset="-120"/>
              </a:rPr>
              <a:t>set_sp</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D5DAE1"/>
                </a:solidFill>
                <a:latin typeface="Courier New" pitchFamily="34" charset="0"/>
                <a:ea typeface="Courier New" pitchFamily="34" charset="-122"/>
                <a:cs typeface="Courier New" pitchFamily="34" charset="-120"/>
              </a:rPr>
              <a:t>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_     _                        _____                 _</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 |   (_)                      /  ___|               |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_ __    __ _  | |_   _   _ __     __ _       \ `--.   _   _   ___  | |_    ___   _ __ ___    ___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'__|  / _` | | __| | | | '_ \   / _` |       `--. \ | | | | / __| | __|  / _ \ | '_ ` _ \  / __|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    | (_| | | |_  | | | | | | | (_| |      /\__/ / | |_| | \__ \ | |_  |  __/ | | | | | | \__ \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_|     \__,_|  \__| |_| |_| |_|  \__, |      \____/   \__, | |___/  \__|  \___| |_| |_| |_| |___/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__/ |                __/ |</a:t>
            </a:r>
            <a:endParaRPr lang="en-US" sz="750" dirty="0"/>
          </a:p>
          <a:p>
            <a:pPr indent="0" marL="0">
              <a:lnSpc>
                <a:spcPts val="900"/>
              </a:lnSpc>
              <a:buNone/>
            </a:pPr>
            <a:r>
              <a:rPr lang="en-US" sz="750" dirty="0">
                <a:solidFill>
                  <a:srgbClr val="F5A524"/>
                </a:solidFill>
                <a:latin typeface="Courier New" pitchFamily="34" charset="0"/>
                <a:ea typeface="Courier New" pitchFamily="34" charset="-122"/>
                <a:cs typeface="Courier New" pitchFamily="34" charset="-120"/>
              </a:rPr>
              <a:t>                                 |___/                |___/</a:t>
            </a:r>
            <a:endParaRPr lang="en-US" sz="750" dirty="0"/>
          </a:p>
        </p:txBody>
      </p:sp>
      <p:sp>
        <p:nvSpPr>
          <p:cNvPr id="10" name="Shape 8"/>
          <p:cNvSpPr/>
          <p:nvPr/>
        </p:nvSpPr>
        <p:spPr>
          <a:xfrm>
            <a:off x="548640" y="5760720"/>
            <a:ext cx="146304" cy="146304"/>
          </a:xfrm>
          <a:prstGeom prst="rect">
            <a:avLst/>
          </a:prstGeom>
          <a:solidFill>
            <a:srgbClr val="D5DAE1"/>
          </a:solidFill>
          <a:ln w="9525">
            <a:solidFill>
              <a:srgbClr val="1B2028"/>
            </a:solidFill>
            <a:prstDash val="solid"/>
          </a:ln>
        </p:spPr>
      </p:sp>
      <p:sp>
        <p:nvSpPr>
          <p:cNvPr id="11" name="Text 9"/>
          <p:cNvSpPr txBox="1"/>
          <p:nvPr/>
        </p:nvSpPr>
        <p:spPr>
          <a:xfrm>
            <a:off x="804672" y="5715000"/>
            <a:ext cx="5760720" cy="228600"/>
          </a:xfrm>
          <a:prstGeom prst="rect">
            <a:avLst/>
          </a:prstGeom>
          <a:noFill/>
          <a:ln/>
        </p:spPr>
        <p:txBody>
          <a:bodyPr wrap="square" lIns="0" tIns="0" rIns="0" bIns="0" rtlCol="0" anchor="ctr"/>
          <a:lstStyle/>
          <a:p>
            <a:pPr indent="0" marL="0">
              <a:buNone/>
            </a:pPr>
            <a:r>
              <a:rPr lang="en-US" sz="1150" dirty="0">
                <a:solidFill>
                  <a:srgbClr val="1D232B"/>
                </a:solidFill>
                <a:latin typeface="Calibri" pitchFamily="34" charset="0"/>
                <a:ea typeface="Calibri" pitchFamily="34" charset="-122"/>
                <a:cs typeface="Calibri" pitchFamily="34" charset="-120"/>
              </a:rPr>
              <a:t>Rows 1–21: transcript (scroll region ESC[1;21r)</a:t>
            </a:r>
            <a:endParaRPr lang="en-US" sz="1150" dirty="0"/>
          </a:p>
        </p:txBody>
      </p:sp>
      <p:sp>
        <p:nvSpPr>
          <p:cNvPr id="12" name="Shape 10"/>
          <p:cNvSpPr/>
          <p:nvPr/>
        </p:nvSpPr>
        <p:spPr>
          <a:xfrm>
            <a:off x="548640" y="5989320"/>
            <a:ext cx="146304" cy="146304"/>
          </a:xfrm>
          <a:prstGeom prst="rect">
            <a:avLst/>
          </a:prstGeom>
          <a:solidFill>
            <a:srgbClr val="2E3540"/>
          </a:solidFill>
          <a:ln w="9525">
            <a:solidFill>
              <a:srgbClr val="1B2028"/>
            </a:solidFill>
            <a:prstDash val="solid"/>
          </a:ln>
        </p:spPr>
      </p:sp>
      <p:sp>
        <p:nvSpPr>
          <p:cNvPr id="13" name="Text 11"/>
          <p:cNvSpPr txBox="1"/>
          <p:nvPr/>
        </p:nvSpPr>
        <p:spPr>
          <a:xfrm>
            <a:off x="804672" y="5943600"/>
            <a:ext cx="5760720" cy="228600"/>
          </a:xfrm>
          <a:prstGeom prst="rect">
            <a:avLst/>
          </a:prstGeom>
          <a:noFill/>
          <a:ln/>
        </p:spPr>
        <p:txBody>
          <a:bodyPr wrap="square" lIns="0" tIns="0" rIns="0" bIns="0" rtlCol="0" anchor="ctr"/>
          <a:lstStyle/>
          <a:p>
            <a:pPr indent="0" marL="0">
              <a:buNone/>
            </a:pPr>
            <a:r>
              <a:rPr lang="en-US" sz="1150" dirty="0">
                <a:solidFill>
                  <a:srgbClr val="1D232B"/>
                </a:solidFill>
                <a:latin typeface="Calibri" pitchFamily="34" charset="0"/>
                <a:ea typeface="Calibri" pitchFamily="34" charset="-122"/>
                <a:cs typeface="Calibri" pitchFamily="34" charset="-120"/>
              </a:rPr>
              <a:t>Row 22: blank separator</a:t>
            </a:r>
            <a:endParaRPr lang="en-US" sz="1150" dirty="0"/>
          </a:p>
        </p:txBody>
      </p:sp>
      <p:sp>
        <p:nvSpPr>
          <p:cNvPr id="14" name="Shape 12"/>
          <p:cNvSpPr/>
          <p:nvPr/>
        </p:nvSpPr>
        <p:spPr>
          <a:xfrm>
            <a:off x="548640" y="6217920"/>
            <a:ext cx="146304" cy="146304"/>
          </a:xfrm>
          <a:prstGeom prst="rect">
            <a:avLst/>
          </a:prstGeom>
          <a:solidFill>
            <a:srgbClr val="F5A524"/>
          </a:solidFill>
          <a:ln w="9525">
            <a:solidFill>
              <a:srgbClr val="1B2028"/>
            </a:solidFill>
            <a:prstDash val="solid"/>
          </a:ln>
        </p:spPr>
      </p:sp>
      <p:sp>
        <p:nvSpPr>
          <p:cNvPr id="15" name="Text 13"/>
          <p:cNvSpPr txBox="1"/>
          <p:nvPr/>
        </p:nvSpPr>
        <p:spPr>
          <a:xfrm>
            <a:off x="804672" y="6172200"/>
            <a:ext cx="5760720" cy="228600"/>
          </a:xfrm>
          <a:prstGeom prst="rect">
            <a:avLst/>
          </a:prstGeom>
          <a:noFill/>
          <a:ln/>
        </p:spPr>
        <p:txBody>
          <a:bodyPr wrap="square" lIns="0" tIns="0" rIns="0" bIns="0" rtlCol="0" anchor="ctr"/>
          <a:lstStyle/>
          <a:p>
            <a:pPr indent="0" marL="0">
              <a:buNone/>
            </a:pPr>
            <a:r>
              <a:rPr lang="en-US" sz="1150" dirty="0">
                <a:solidFill>
                  <a:srgbClr val="1D232B"/>
                </a:solidFill>
                <a:latin typeface="Calibri" pitchFamily="34" charset="0"/>
                <a:ea typeface="Calibri" pitchFamily="34" charset="-122"/>
                <a:cs typeface="Calibri" pitchFamily="34" charset="-120"/>
              </a:rPr>
              <a:t>Rows 23–30: marquee (8-row font)</a:t>
            </a:r>
            <a:endParaRPr lang="en-US" sz="1150" dirty="0"/>
          </a:p>
        </p:txBody>
      </p:sp>
      <p:sp>
        <p:nvSpPr>
          <p:cNvPr id="16" name="Shape 14"/>
          <p:cNvSpPr/>
          <p:nvPr/>
        </p:nvSpPr>
        <p:spPr>
          <a:xfrm>
            <a:off x="7086600" y="1481328"/>
            <a:ext cx="384048" cy="384048"/>
          </a:xfrm>
          <a:prstGeom prst="ellipse">
            <a:avLst/>
          </a:prstGeom>
          <a:solidFill>
            <a:srgbClr val="1D232B"/>
          </a:solidFill>
          <a:ln w="12700">
            <a:solidFill>
              <a:srgbClr val="1D232B"/>
            </a:solidFill>
            <a:prstDash val="solid"/>
          </a:ln>
        </p:spPr>
      </p:sp>
      <p:sp>
        <p:nvSpPr>
          <p:cNvPr id="17" name="Text 15"/>
          <p:cNvSpPr txBox="1"/>
          <p:nvPr/>
        </p:nvSpPr>
        <p:spPr>
          <a:xfrm>
            <a:off x="708660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8" name="Text 16"/>
          <p:cNvSpPr txBox="1"/>
          <p:nvPr/>
        </p:nvSpPr>
        <p:spPr>
          <a:xfrm>
            <a:off x="7653528" y="1463040"/>
            <a:ext cx="3989527" cy="10058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Layout from the window size</a:t>
            </a:r>
            <a:endParaRPr lang="en-US" sz="1500" dirty="0"/>
          </a:p>
          <a:p>
            <a:pPr indent="0" marL="0">
              <a:spcAft>
                <a:spcPts val="200"/>
              </a:spcAft>
              <a:buNone/>
            </a:pPr>
            <a:r>
              <a:rPr lang="en-US" sz="1250" dirty="0">
                <a:solidFill>
                  <a:srgbClr val="5F6B78"/>
                </a:solidFill>
                <a:latin typeface="Calibri" pitchFamily="34" charset="0"/>
                <a:ea typeface="Calibri" pitchFamily="34" charset="-122"/>
                <a:cs typeface="Calibri" pitchFamily="34" charset="-120"/>
              </a:rPr>
              <a:t>At startup Console reads the window height: the transcript gets rows 1 to height − 10, the marquee the last 8 rows.</a:t>
            </a:r>
            <a:endParaRPr lang="en-US" sz="1500" dirty="0"/>
          </a:p>
        </p:txBody>
      </p:sp>
      <p:sp>
        <p:nvSpPr>
          <p:cNvPr id="19" name="Shape 17"/>
          <p:cNvSpPr/>
          <p:nvPr/>
        </p:nvSpPr>
        <p:spPr>
          <a:xfrm>
            <a:off x="7086600" y="2624328"/>
            <a:ext cx="384048" cy="384048"/>
          </a:xfrm>
          <a:prstGeom prst="ellipse">
            <a:avLst/>
          </a:prstGeom>
          <a:solidFill>
            <a:srgbClr val="1D232B"/>
          </a:solidFill>
          <a:ln w="12700">
            <a:solidFill>
              <a:srgbClr val="1D232B"/>
            </a:solidFill>
            <a:prstDash val="solid"/>
          </a:ln>
        </p:spPr>
      </p:sp>
      <p:sp>
        <p:nvSpPr>
          <p:cNvPr id="20" name="Text 18"/>
          <p:cNvSpPr txBox="1"/>
          <p:nvPr/>
        </p:nvSpPr>
        <p:spPr>
          <a:xfrm>
            <a:off x="7086600"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21" name="Text 19"/>
          <p:cNvSpPr txBox="1"/>
          <p:nvPr/>
        </p:nvSpPr>
        <p:spPr>
          <a:xfrm>
            <a:off x="7653528" y="2606040"/>
            <a:ext cx="3989527" cy="10058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Cursor-safe frames</a:t>
            </a:r>
            <a:endParaRPr lang="en-US" sz="1500" dirty="0"/>
          </a:p>
          <a:p>
            <a:pPr indent="0" marL="0">
              <a:spcAft>
                <a:spcPts val="200"/>
              </a:spcAft>
              <a:buNone/>
            </a:pPr>
            <a:r>
              <a:rPr lang="en-US" sz="1250" dirty="0">
                <a:solidFill>
                  <a:srgbClr val="5F6B78"/>
                </a:solidFill>
                <a:latin typeface="Calibri" pitchFamily="34" charset="0"/>
                <a:ea typeface="Calibri" pitchFamily="34" charset="-122"/>
                <a:cs typeface="Calibri" pitchFamily="34" charset="-120"/>
              </a:rPr>
              <a:t>A frame is ESC[s, then per row: move to row, ESC[2K, 119 characters, then ESC[u. The user's cursor never moves.</a:t>
            </a:r>
            <a:endParaRPr lang="en-US" sz="1500" dirty="0"/>
          </a:p>
        </p:txBody>
      </p:sp>
      <p:sp>
        <p:nvSpPr>
          <p:cNvPr id="22" name="Shape 20"/>
          <p:cNvSpPr/>
          <p:nvPr/>
        </p:nvSpPr>
        <p:spPr>
          <a:xfrm>
            <a:off x="7086600" y="3767328"/>
            <a:ext cx="384048" cy="384048"/>
          </a:xfrm>
          <a:prstGeom prst="ellipse">
            <a:avLst/>
          </a:prstGeom>
          <a:solidFill>
            <a:srgbClr val="1D232B"/>
          </a:solidFill>
          <a:ln w="12700">
            <a:solidFill>
              <a:srgbClr val="1D232B"/>
            </a:solidFill>
            <a:prstDash val="solid"/>
          </a:ln>
        </p:spPr>
      </p:sp>
      <p:sp>
        <p:nvSpPr>
          <p:cNvPr id="23" name="Text 21"/>
          <p:cNvSpPr txBox="1"/>
          <p:nvPr/>
        </p:nvSpPr>
        <p:spPr>
          <a:xfrm>
            <a:off x="708660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4" name="Text 22"/>
          <p:cNvSpPr txBox="1"/>
          <p:nvPr/>
        </p:nvSpPr>
        <p:spPr>
          <a:xfrm>
            <a:off x="7653528" y="3749040"/>
            <a:ext cx="3989527" cy="10058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One lock, one write</a:t>
            </a:r>
            <a:endParaRPr lang="en-US" sz="1500" dirty="0"/>
          </a:p>
          <a:p>
            <a:pPr indent="0" marL="0">
              <a:spcAft>
                <a:spcPts val="200"/>
              </a:spcAft>
              <a:buNone/>
            </a:pPr>
            <a:r>
              <a:rPr lang="en-US" sz="1250" dirty="0">
                <a:solidFill>
                  <a:srgbClr val="5F6B78"/>
                </a:solidFill>
                <a:latin typeface="Calibri" pitchFamily="34" charset="0"/>
                <a:ea typeface="Calibri" pitchFamily="34" charset="-122"/>
                <a:cs typeface="Calibri" pitchFamily="34" charset="-120"/>
              </a:rPr>
              <a:t>Every std::cout write goes through Console's mutex. A frame is built as one string and flushed once (0.16–0.19 ms).</a:t>
            </a:r>
            <a:endParaRPr lang="en-US" sz="1500" dirty="0"/>
          </a:p>
        </p:txBody>
      </p:sp>
      <p:sp>
        <p:nvSpPr>
          <p:cNvPr id="25" name="Shape 23"/>
          <p:cNvSpPr/>
          <p:nvPr/>
        </p:nvSpPr>
        <p:spPr>
          <a:xfrm>
            <a:off x="7086600" y="4910328"/>
            <a:ext cx="384048" cy="384048"/>
          </a:xfrm>
          <a:prstGeom prst="ellipse">
            <a:avLst/>
          </a:prstGeom>
          <a:solidFill>
            <a:srgbClr val="1D232B"/>
          </a:solidFill>
          <a:ln w="12700">
            <a:solidFill>
              <a:srgbClr val="1D232B"/>
            </a:solidFill>
            <a:prstDash val="solid"/>
          </a:ln>
        </p:spPr>
      </p:sp>
      <p:sp>
        <p:nvSpPr>
          <p:cNvPr id="26" name="Text 24"/>
          <p:cNvSpPr txBox="1"/>
          <p:nvPr/>
        </p:nvSpPr>
        <p:spPr>
          <a:xfrm>
            <a:off x="708660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7" name="Text 25"/>
          <p:cNvSpPr txBox="1"/>
          <p:nvPr/>
        </p:nvSpPr>
        <p:spPr>
          <a:xfrm>
            <a:off x="7653528" y="4892040"/>
            <a:ext cx="3989527" cy="109728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No ghost frames</a:t>
            </a:r>
            <a:endParaRPr lang="en-US" sz="1500" dirty="0"/>
          </a:p>
          <a:p>
            <a:pPr indent="0" marL="0">
              <a:spcAft>
                <a:spcPts val="200"/>
              </a:spcAft>
              <a:buNone/>
            </a:pPr>
            <a:r>
              <a:rPr lang="en-US" sz="1250" dirty="0">
                <a:solidFill>
                  <a:srgbClr val="5F6B78"/>
                </a:solidFill>
                <a:latin typeface="Calibri" pitchFamily="34" charset="0"/>
                <a:ea typeface="Calibri" pitchFamily="34" charset="-122"/>
                <a:cs typeface="Calibri" pitchFamily="34" charset="-120"/>
              </a:rPr>
              <a:t>write_if() re-checks running under the lock, so a frame built just before stop_marquee is dropped, not drawn over cleared rows.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04 / MARQUEE ANIMATION LOGIC</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Marquee animation: a sliding 8-row window</a:t>
            </a:r>
            <a:endParaRPr lang="en-US" sz="3200" dirty="0"/>
          </a:p>
        </p:txBody>
      </p:sp>
      <p:sp>
        <p:nvSpPr>
          <p:cNvPr id="4" name="Shape 2"/>
          <p:cNvSpPr/>
          <p:nvPr/>
        </p:nvSpPr>
        <p:spPr>
          <a:xfrm>
            <a:off x="548640" y="1481328"/>
            <a:ext cx="384048" cy="384048"/>
          </a:xfrm>
          <a:prstGeom prst="ellipse">
            <a:avLst/>
          </a:prstGeom>
          <a:solidFill>
            <a:srgbClr val="1D232B"/>
          </a:solidFill>
          <a:ln w="12700">
            <a:solidFill>
              <a:srgbClr val="1D232B"/>
            </a:solidFill>
            <a:prstDash val="solid"/>
          </a:ln>
        </p:spPr>
      </p:sp>
      <p:sp>
        <p:nvSpPr>
          <p:cNvPr id="5" name="Text 3"/>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6" name="Text 4"/>
          <p:cNvSpPr txBox="1"/>
          <p:nvPr/>
        </p:nvSpPr>
        <p:spPr>
          <a:xfrm>
            <a:off x="1115568" y="1463040"/>
            <a:ext cx="5010912" cy="10058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Load the font</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ascii_big.txt holds 94 glyphs ('!' to '~'), 8 rows each. Every glyph is cropped to its width plus one column of kerning; a space is 5 columns.</a:t>
            </a:r>
            <a:endParaRPr lang="en-US" sz="1500" dirty="0"/>
          </a:p>
        </p:txBody>
      </p:sp>
      <p:sp>
        <p:nvSpPr>
          <p:cNvPr id="7" name="Shape 5"/>
          <p:cNvSpPr/>
          <p:nvPr/>
        </p:nvSpPr>
        <p:spPr>
          <a:xfrm>
            <a:off x="548640" y="2578608"/>
            <a:ext cx="384048" cy="384048"/>
          </a:xfrm>
          <a:prstGeom prst="ellipse">
            <a:avLst/>
          </a:prstGeom>
          <a:solidFill>
            <a:srgbClr val="1D232B"/>
          </a:solidFill>
          <a:ln w="12700">
            <a:solidFill>
              <a:srgbClr val="1D232B"/>
            </a:solidFill>
            <a:prstDash val="solid"/>
          </a:ln>
        </p:spPr>
      </p:sp>
      <p:sp>
        <p:nvSpPr>
          <p:cNvPr id="8" name="Text 6"/>
          <p:cNvSpPr txBox="1"/>
          <p:nvPr/>
        </p:nvSpPr>
        <p:spPr>
          <a:xfrm>
            <a:off x="54864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9" name="Text 7"/>
          <p:cNvSpPr txBox="1"/>
          <p:nvPr/>
        </p:nvSpPr>
        <p:spPr>
          <a:xfrm>
            <a:off x="1115568" y="2560320"/>
            <a:ext cx="5010912" cy="86868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Render the text</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render(text) stitches the glyphs side by side into 8 strings, one per screen row. Unknown characters become a gap.</a:t>
            </a:r>
            <a:endParaRPr lang="en-US" sz="1500" dirty="0"/>
          </a:p>
        </p:txBody>
      </p:sp>
      <p:sp>
        <p:nvSpPr>
          <p:cNvPr id="10" name="Shape 8"/>
          <p:cNvSpPr/>
          <p:nvPr/>
        </p:nvSpPr>
        <p:spPr>
          <a:xfrm>
            <a:off x="548640" y="3538728"/>
            <a:ext cx="384048" cy="384048"/>
          </a:xfrm>
          <a:prstGeom prst="ellipse">
            <a:avLst/>
          </a:prstGeom>
          <a:solidFill>
            <a:srgbClr val="1D232B"/>
          </a:solidFill>
          <a:ln w="12700">
            <a:solidFill>
              <a:srgbClr val="1D232B"/>
            </a:solidFill>
            <a:prstDash val="solid"/>
          </a:ln>
        </p:spPr>
      </p:sp>
      <p:sp>
        <p:nvSpPr>
          <p:cNvPr id="11" name="Text 9"/>
          <p:cNvSpPr txBox="1"/>
          <p:nvPr/>
        </p:nvSpPr>
        <p:spPr>
          <a:xfrm>
            <a:off x="548640" y="3538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2" name="Text 10"/>
          <p:cNvSpPr txBox="1"/>
          <p:nvPr/>
        </p:nvSpPr>
        <p:spPr>
          <a:xfrm>
            <a:off x="1115568" y="3520440"/>
            <a:ext cx="5010912" cy="100584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Slide the window</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Screen column i shows pattern[(offset + i) % length], where pattern = row + 3 spaces. offset++ each frame moves the text one column left and wraps it around seamlessly.</a:t>
            </a:r>
            <a:endParaRPr lang="en-US" sz="1500" dirty="0"/>
          </a:p>
        </p:txBody>
      </p:sp>
      <p:sp>
        <p:nvSpPr>
          <p:cNvPr id="13" name="Shape 11"/>
          <p:cNvSpPr/>
          <p:nvPr/>
        </p:nvSpPr>
        <p:spPr>
          <a:xfrm>
            <a:off x="548640" y="4663440"/>
            <a:ext cx="5577840" cy="1691640"/>
          </a:xfrm>
          <a:prstGeom prst="roundRect">
            <a:avLst>
              <a:gd name="adj" fmla="val 4324"/>
            </a:avLst>
          </a:prstGeom>
          <a:solidFill>
            <a:srgbClr val="1B2028"/>
          </a:solidFill>
          <a:ln w="12700">
            <a:solidFill>
              <a:srgbClr val="1B2028"/>
            </a:solidFill>
            <a:prstDash val="solid"/>
          </a:ln>
        </p:spPr>
      </p:sp>
      <p:sp>
        <p:nvSpPr>
          <p:cNvPr id="14" name="Shape 12"/>
          <p:cNvSpPr/>
          <p:nvPr/>
        </p:nvSpPr>
        <p:spPr>
          <a:xfrm>
            <a:off x="731520" y="4809744"/>
            <a:ext cx="109728" cy="109728"/>
          </a:xfrm>
          <a:prstGeom prst="ellipse">
            <a:avLst/>
          </a:prstGeom>
          <a:solidFill>
            <a:srgbClr val="FF5F57"/>
          </a:solidFill>
          <a:ln w="12700">
            <a:solidFill>
              <a:srgbClr val="FF5F57"/>
            </a:solidFill>
            <a:prstDash val="solid"/>
          </a:ln>
        </p:spPr>
      </p:sp>
      <p:sp>
        <p:nvSpPr>
          <p:cNvPr id="15" name="Shape 13"/>
          <p:cNvSpPr/>
          <p:nvPr/>
        </p:nvSpPr>
        <p:spPr>
          <a:xfrm>
            <a:off x="914400" y="4809744"/>
            <a:ext cx="109728" cy="109728"/>
          </a:xfrm>
          <a:prstGeom prst="ellipse">
            <a:avLst/>
          </a:prstGeom>
          <a:solidFill>
            <a:srgbClr val="FEBC2E"/>
          </a:solidFill>
          <a:ln w="12700">
            <a:solidFill>
              <a:srgbClr val="FEBC2E"/>
            </a:solidFill>
            <a:prstDash val="solid"/>
          </a:ln>
        </p:spPr>
      </p:sp>
      <p:sp>
        <p:nvSpPr>
          <p:cNvPr id="16" name="Shape 14"/>
          <p:cNvSpPr/>
          <p:nvPr/>
        </p:nvSpPr>
        <p:spPr>
          <a:xfrm>
            <a:off x="1097280" y="4809744"/>
            <a:ext cx="109728" cy="109728"/>
          </a:xfrm>
          <a:prstGeom prst="ellipse">
            <a:avLst/>
          </a:prstGeom>
          <a:solidFill>
            <a:srgbClr val="28C840"/>
          </a:solidFill>
          <a:ln w="12700">
            <a:solidFill>
              <a:srgbClr val="28C840"/>
            </a:solidFill>
            <a:prstDash val="solid"/>
          </a:ln>
        </p:spPr>
      </p:sp>
      <p:sp>
        <p:nvSpPr>
          <p:cNvPr id="17" name="Text 15"/>
          <p:cNvSpPr txBox="1"/>
          <p:nvPr/>
        </p:nvSpPr>
        <p:spPr>
          <a:xfrm>
            <a:off x="1371600" y="4745736"/>
            <a:ext cx="4572000"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one row, window of 22 columns</a:t>
            </a:r>
            <a:endParaRPr lang="en-US" sz="1000" dirty="0"/>
          </a:p>
        </p:txBody>
      </p:sp>
      <p:sp>
        <p:nvSpPr>
          <p:cNvPr id="18" name="Text 16"/>
          <p:cNvSpPr txBox="1"/>
          <p:nvPr/>
        </p:nvSpPr>
        <p:spPr>
          <a:xfrm>
            <a:off x="777240" y="5084064"/>
            <a:ext cx="5212080" cy="1143000"/>
          </a:xfrm>
          <a:prstGeom prst="rect">
            <a:avLst/>
          </a:prstGeom>
          <a:noFill/>
          <a:ln/>
        </p:spPr>
        <p:txBody>
          <a:bodyPr wrap="square" lIns="0" tIns="0" rIns="0" bIns="0" rtlCol="0" anchor="t"/>
          <a:lstStyle/>
          <a:p>
            <a:pPr indent="0" marL="0">
              <a:lnSpc>
                <a:spcPts val="1400"/>
              </a:lnSpc>
              <a:buNone/>
            </a:pPr>
            <a:r>
              <a:rPr lang="en-US" sz="1150" dirty="0">
                <a:solidFill>
                  <a:srgbClr val="7D8896"/>
                </a:solidFill>
                <a:latin typeface="Courier New" pitchFamily="34" charset="0"/>
                <a:ea typeface="Courier New" pitchFamily="34" charset="-122"/>
                <a:cs typeface="Courier New" pitchFamily="34" charset="-120"/>
              </a:rPr>
              <a:t>pattern  </a:t>
            </a:r>
            <a:pPr indent="0" marL="0">
              <a:lnSpc>
                <a:spcPts val="1400"/>
              </a:lnSpc>
              <a:buNone/>
            </a:pPr>
            <a:r>
              <a:rPr lang="en-US" sz="1150" dirty="0">
                <a:solidFill>
                  <a:srgbClr val="FFFFFF"/>
                </a:solidFill>
                <a:latin typeface="Courier New" pitchFamily="34" charset="0"/>
                <a:ea typeface="Courier New" pitchFamily="34" charset="-122"/>
                <a:cs typeface="Courier New" pitchFamily="34" charset="-120"/>
              </a:rPr>
              <a:t>"HELLO   "</a:t>
            </a:r>
            <a:endParaRPr lang="en-US" sz="1150" dirty="0"/>
          </a:p>
          <a:p>
            <a:pPr indent="0" marL="0">
              <a:lnSpc>
                <a:spcPts val="1400"/>
              </a:lnSpc>
              <a:buNone/>
            </a:pPr>
            <a:r>
              <a:rPr lang="en-US" sz="1150" dirty="0">
                <a:solidFill>
                  <a:srgbClr val="7D8896"/>
                </a:solidFill>
                <a:latin typeface="Courier New" pitchFamily="34" charset="0"/>
                <a:ea typeface="Courier New" pitchFamily="34" charset="-122"/>
                <a:cs typeface="Courier New" pitchFamily="34" charset="-120"/>
              </a:rPr>
              <a:t>offset 0 </a:t>
            </a:r>
            <a:pPr indent="0" marL="0">
              <a:lnSpc>
                <a:spcPts val="1400"/>
              </a:lnSpc>
              <a:buNone/>
            </a:pPr>
            <a:r>
              <a:rPr lang="en-US" sz="1150" dirty="0">
                <a:solidFill>
                  <a:srgbClr val="F5A524"/>
                </a:solidFill>
                <a:latin typeface="Courier New" pitchFamily="34" charset="0"/>
                <a:ea typeface="Courier New" pitchFamily="34" charset="-122"/>
                <a:cs typeface="Courier New" pitchFamily="34" charset="-120"/>
              </a:rPr>
              <a:t>|HELLO   HELLO   HELLO |</a:t>
            </a:r>
            <a:endParaRPr lang="en-US" sz="1150" dirty="0"/>
          </a:p>
          <a:p>
            <a:pPr indent="0" marL="0">
              <a:lnSpc>
                <a:spcPts val="1400"/>
              </a:lnSpc>
              <a:buNone/>
            </a:pPr>
            <a:r>
              <a:rPr lang="en-US" sz="1150" dirty="0">
                <a:solidFill>
                  <a:srgbClr val="7D8896"/>
                </a:solidFill>
                <a:latin typeface="Courier New" pitchFamily="34" charset="0"/>
                <a:ea typeface="Courier New" pitchFamily="34" charset="-122"/>
                <a:cs typeface="Courier New" pitchFamily="34" charset="-120"/>
              </a:rPr>
              <a:t>offset 1 </a:t>
            </a:r>
            <a:pPr indent="0" marL="0">
              <a:lnSpc>
                <a:spcPts val="1400"/>
              </a:lnSpc>
              <a:buNone/>
            </a:pPr>
            <a:r>
              <a:rPr lang="en-US" sz="1150" dirty="0">
                <a:solidFill>
                  <a:srgbClr val="F5A524"/>
                </a:solidFill>
                <a:latin typeface="Courier New" pitchFamily="34" charset="0"/>
                <a:ea typeface="Courier New" pitchFamily="34" charset="-122"/>
                <a:cs typeface="Courier New" pitchFamily="34" charset="-120"/>
              </a:rPr>
              <a:t>|ELLO   HELLO   HELLO  |</a:t>
            </a:r>
            <a:endParaRPr lang="en-US" sz="1150" dirty="0"/>
          </a:p>
          <a:p>
            <a:pPr indent="0" marL="0">
              <a:lnSpc>
                <a:spcPts val="1400"/>
              </a:lnSpc>
              <a:buNone/>
            </a:pPr>
            <a:r>
              <a:rPr lang="en-US" sz="1150" dirty="0">
                <a:solidFill>
                  <a:srgbClr val="7D8896"/>
                </a:solidFill>
                <a:latin typeface="Courier New" pitchFamily="34" charset="0"/>
                <a:ea typeface="Courier New" pitchFamily="34" charset="-122"/>
                <a:cs typeface="Courier New" pitchFamily="34" charset="-120"/>
              </a:rPr>
              <a:t>offset 2 </a:t>
            </a:r>
            <a:pPr indent="0" marL="0">
              <a:lnSpc>
                <a:spcPts val="1400"/>
              </a:lnSpc>
              <a:buNone/>
            </a:pPr>
            <a:r>
              <a:rPr lang="en-US" sz="1150" dirty="0">
                <a:solidFill>
                  <a:srgbClr val="F5A524"/>
                </a:solidFill>
                <a:latin typeface="Courier New" pitchFamily="34" charset="0"/>
                <a:ea typeface="Courier New" pitchFamily="34" charset="-122"/>
                <a:cs typeface="Courier New" pitchFamily="34" charset="-120"/>
              </a:rPr>
              <a:t>|LLO   HELLO   HELLO   |</a:t>
            </a:r>
            <a:endParaRPr lang="en-US" sz="1150" dirty="0"/>
          </a:p>
        </p:txBody>
      </p:sp>
      <p:sp>
        <p:nvSpPr>
          <p:cNvPr id="19" name="Shape 17"/>
          <p:cNvSpPr/>
          <p:nvPr/>
        </p:nvSpPr>
        <p:spPr>
          <a:xfrm>
            <a:off x="6400800" y="1417320"/>
            <a:ext cx="5242255" cy="3520440"/>
          </a:xfrm>
          <a:prstGeom prst="roundRect">
            <a:avLst>
              <a:gd name="adj" fmla="val 2078"/>
            </a:avLst>
          </a:prstGeom>
          <a:solidFill>
            <a:srgbClr val="1B2028"/>
          </a:solidFill>
          <a:ln w="12700">
            <a:solidFill>
              <a:srgbClr val="1B2028"/>
            </a:solidFill>
            <a:prstDash val="solid"/>
          </a:ln>
        </p:spPr>
      </p:sp>
      <p:sp>
        <p:nvSpPr>
          <p:cNvPr id="20" name="Shape 18"/>
          <p:cNvSpPr/>
          <p:nvPr/>
        </p:nvSpPr>
        <p:spPr>
          <a:xfrm>
            <a:off x="6583680" y="1563624"/>
            <a:ext cx="109728" cy="109728"/>
          </a:xfrm>
          <a:prstGeom prst="ellipse">
            <a:avLst/>
          </a:prstGeom>
          <a:solidFill>
            <a:srgbClr val="FF5F57"/>
          </a:solidFill>
          <a:ln w="12700">
            <a:solidFill>
              <a:srgbClr val="FF5F57"/>
            </a:solidFill>
            <a:prstDash val="solid"/>
          </a:ln>
        </p:spPr>
      </p:sp>
      <p:sp>
        <p:nvSpPr>
          <p:cNvPr id="21" name="Shape 19"/>
          <p:cNvSpPr/>
          <p:nvPr/>
        </p:nvSpPr>
        <p:spPr>
          <a:xfrm>
            <a:off x="6766560" y="1563624"/>
            <a:ext cx="109728" cy="109728"/>
          </a:xfrm>
          <a:prstGeom prst="ellipse">
            <a:avLst/>
          </a:prstGeom>
          <a:solidFill>
            <a:srgbClr val="FEBC2E"/>
          </a:solidFill>
          <a:ln w="12700">
            <a:solidFill>
              <a:srgbClr val="FEBC2E"/>
            </a:solidFill>
            <a:prstDash val="solid"/>
          </a:ln>
        </p:spPr>
      </p:sp>
      <p:sp>
        <p:nvSpPr>
          <p:cNvPr id="22" name="Shape 20"/>
          <p:cNvSpPr/>
          <p:nvPr/>
        </p:nvSpPr>
        <p:spPr>
          <a:xfrm>
            <a:off x="6949440" y="1563624"/>
            <a:ext cx="109728" cy="109728"/>
          </a:xfrm>
          <a:prstGeom prst="ellipse">
            <a:avLst/>
          </a:prstGeom>
          <a:solidFill>
            <a:srgbClr val="28C840"/>
          </a:solidFill>
          <a:ln w="12700">
            <a:solidFill>
              <a:srgbClr val="28C840"/>
            </a:solidFill>
            <a:prstDash val="solid"/>
          </a:ln>
        </p:spPr>
      </p:sp>
      <p:sp>
        <p:nvSpPr>
          <p:cNvPr id="23" name="Text 21"/>
          <p:cNvSpPr txBox="1"/>
          <p:nvPr/>
        </p:nvSpPr>
        <p:spPr>
          <a:xfrm>
            <a:off x="7223760" y="1499616"/>
            <a:ext cx="4236415"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src/Marquee.cpp (simplified)</a:t>
            </a:r>
            <a:endParaRPr lang="en-US" sz="1000" dirty="0"/>
          </a:p>
        </p:txBody>
      </p:sp>
      <p:sp>
        <p:nvSpPr>
          <p:cNvPr id="24" name="Text 22"/>
          <p:cNvSpPr txBox="1"/>
          <p:nvPr/>
        </p:nvSpPr>
        <p:spPr>
          <a:xfrm>
            <a:off x="6629400" y="1837944"/>
            <a:ext cx="4876495" cy="2971800"/>
          </a:xfrm>
          <a:prstGeom prst="rect">
            <a:avLst/>
          </a:prstGeom>
          <a:noFill/>
          <a:ln/>
        </p:spPr>
        <p:txBody>
          <a:bodyPr wrap="square" lIns="0" tIns="0" rIns="0" bIns="0" rtlCol="0" anchor="t"/>
          <a:lstStyle/>
          <a:p>
            <a:pPr indent="0" marL="0">
              <a:lnSpc>
                <a:spcPts val="1250"/>
              </a:lnSpc>
              <a:buNone/>
            </a:pPr>
            <a:r>
              <a:rPr lang="en-US" sz="1050" dirty="0">
                <a:solidFill>
                  <a:srgbClr val="F5A524"/>
                </a:solidFill>
                <a:latin typeface="Courier New" pitchFamily="34" charset="0"/>
                <a:ea typeface="Courier New" pitchFamily="34" charset="-122"/>
                <a:cs typeface="Courier New" pitchFamily="34" charset="-120"/>
              </a:rPr>
              <a:t>// Marquee::run(), the marquee thread</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while (alive_) {</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auto now = steady_clock::now();</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if (running_ &amp;&amp;</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(frame_requested_ || now &gt;= next_frame)) {</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bool forced = frame_requested_.exchange(false);</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draw_frame(font_.render(text()), offset);</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++offset;            </a:t>
            </a:r>
            <a:pPr indent="0" marL="0">
              <a:lnSpc>
                <a:spcPts val="1250"/>
              </a:lnSpc>
              <a:buNone/>
            </a:pPr>
            <a:r>
              <a:rPr lang="en-US" sz="1050" dirty="0">
                <a:solidFill>
                  <a:srgbClr val="F5A524"/>
                </a:solidFill>
                <a:latin typeface="Courier New" pitchFamily="34" charset="0"/>
                <a:ea typeface="Courier New" pitchFamily="34" charset="-122"/>
                <a:cs typeface="Courier New" pitchFamily="34" charset="-120"/>
              </a:rPr>
              <a:t>// one column left</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auto interval = ms(refresh_ms_.load());</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next_frame = forced ? now + interval</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 next_frame + interval;</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if (next_frame &lt; now)</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next_frame = now;  </a:t>
            </a:r>
            <a:pPr indent="0" marL="0">
              <a:lnSpc>
                <a:spcPts val="1250"/>
              </a:lnSpc>
              <a:buNone/>
            </a:pPr>
            <a:r>
              <a:rPr lang="en-US" sz="1050" dirty="0">
                <a:solidFill>
                  <a:srgbClr val="F5A524"/>
                </a:solidFill>
                <a:latin typeface="Courier New" pitchFamily="34" charset="0"/>
                <a:ea typeface="Courier New" pitchFamily="34" charset="-122"/>
                <a:cs typeface="Courier New" pitchFamily="34" charset="-120"/>
              </a:rPr>
              <a:t>// resume, no catch-up</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  sleep_for(ms(TICK_MS)); </a:t>
            </a:r>
            <a:pPr indent="0" marL="0">
              <a:lnSpc>
                <a:spcPts val="1250"/>
              </a:lnSpc>
              <a:buNone/>
            </a:pPr>
            <a:r>
              <a:rPr lang="en-US" sz="1050" dirty="0">
                <a:solidFill>
                  <a:srgbClr val="F5A524"/>
                </a:solidFill>
                <a:latin typeface="Courier New" pitchFamily="34" charset="0"/>
                <a:ea typeface="Courier New" pitchFamily="34" charset="-122"/>
                <a:cs typeface="Courier New" pitchFamily="34" charset="-120"/>
              </a:rPr>
              <a:t>// TICK_MS = 10</a:t>
            </a:r>
            <a:endParaRPr lang="en-US" sz="1050" dirty="0"/>
          </a:p>
          <a:p>
            <a:pPr indent="0" marL="0">
              <a:lnSpc>
                <a:spcPts val="1250"/>
              </a:lnSpc>
              <a:buNone/>
            </a:pPr>
            <a:r>
              <a:rPr lang="en-US" sz="1050" dirty="0">
                <a:solidFill>
                  <a:srgbClr val="D5DAE1"/>
                </a:solidFill>
                <a:latin typeface="Courier New" pitchFamily="34" charset="0"/>
                <a:ea typeface="Courier New" pitchFamily="34" charset="-122"/>
                <a:cs typeface="Courier New" pitchFamily="34" charset="-120"/>
              </a:rPr>
              <a:t>}</a:t>
            </a:r>
            <a:endParaRPr lang="en-US" sz="1050" dirty="0"/>
          </a:p>
        </p:txBody>
      </p:sp>
      <p:sp>
        <p:nvSpPr>
          <p:cNvPr id="25" name="Shape 23"/>
          <p:cNvSpPr/>
          <p:nvPr/>
        </p:nvSpPr>
        <p:spPr>
          <a:xfrm>
            <a:off x="6400800" y="5120640"/>
            <a:ext cx="5242255" cy="1234440"/>
          </a:xfrm>
          <a:prstGeom prst="roundRect">
            <a:avLst>
              <a:gd name="adj" fmla="val 5926"/>
            </a:avLst>
          </a:prstGeom>
          <a:solidFill>
            <a:srgbClr val="FFF3DD"/>
          </a:solidFill>
          <a:ln w="12700">
            <a:solidFill>
              <a:srgbClr val="FFF3DD"/>
            </a:solidFill>
            <a:prstDash val="solid"/>
          </a:ln>
        </p:spPr>
      </p:sp>
      <p:sp>
        <p:nvSpPr>
          <p:cNvPr id="26" name="Text 24"/>
          <p:cNvSpPr txBox="1"/>
          <p:nvPr/>
        </p:nvSpPr>
        <p:spPr>
          <a:xfrm>
            <a:off x="6583680" y="5166360"/>
            <a:ext cx="4876495" cy="1143000"/>
          </a:xfrm>
          <a:prstGeom prst="rect">
            <a:avLst/>
          </a:prstGeom>
          <a:noFill/>
          <a:ln/>
        </p:spPr>
        <p:txBody>
          <a:bodyPr wrap="square" lIns="0" tIns="0" rIns="0" bIns="0" rtlCol="0" anchor="ctr"/>
          <a:lstStyle/>
          <a:p>
            <a:pPr indent="0" marL="0">
              <a:spcAft>
                <a:spcPts val="300"/>
              </a:spcAft>
              <a:buNone/>
            </a:pPr>
            <a:r>
              <a:rPr lang="en-US" sz="1400" b="1" dirty="0">
                <a:solidFill>
                  <a:srgbClr val="1D232B"/>
                </a:solidFill>
                <a:latin typeface="Calibri" pitchFamily="34" charset="0"/>
                <a:ea typeface="Calibri" pitchFamily="34" charset="-122"/>
                <a:cs typeface="Calibri" pitchFamily="34" charset="-120"/>
              </a:rPr>
              <a:t>Why a deadline instead of sleep(refresh)?</a:t>
            </a:r>
            <a:endParaRPr lang="en-US" sz="1400" dirty="0"/>
          </a:p>
          <a:p>
            <a:pPr indent="0" marL="0">
              <a:spcAft>
                <a:spcPts val="300"/>
              </a:spcAft>
              <a:buNone/>
            </a:pPr>
            <a:r>
              <a:rPr lang="en-US" sz="1200" dirty="0">
                <a:solidFill>
                  <a:srgbClr val="5F6B78"/>
                </a:solidFill>
                <a:latin typeface="Calibri" pitchFamily="34" charset="0"/>
                <a:ea typeface="Calibri" pitchFamily="34" charset="-122"/>
                <a:cs typeface="Calibri" pitchFamily="34" charset="-120"/>
              </a:rPr>
              <a:t>next_frame += interval keeps the average exactly on the set speed (100 ms → 100.10 ms measured). start_marquee and set_speed request a frame at once, so changes show without waiting out the old interval.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05 / PROCESS REPRESENTATION &amp; SCHEDULING</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Two threads, scheduled by the OS</a:t>
            </a:r>
            <a:endParaRPr lang="en-US" sz="3200" dirty="0"/>
          </a:p>
        </p:txBody>
      </p:sp>
      <p:sp>
        <p:nvSpPr>
          <p:cNvPr id="4" name="Shape 2"/>
          <p:cNvSpPr/>
          <p:nvPr/>
        </p:nvSpPr>
        <p:spPr>
          <a:xfrm>
            <a:off x="548640" y="1417320"/>
            <a:ext cx="3310128" cy="2057400"/>
          </a:xfrm>
          <a:prstGeom prst="roundRect">
            <a:avLst>
              <a:gd name="adj" fmla="val 3556"/>
            </a:avLst>
          </a:prstGeom>
          <a:solidFill>
            <a:srgbClr val="F2F4F7"/>
          </a:solidFill>
          <a:ln w="12700">
            <a:solidFill>
              <a:srgbClr val="F2F4F7"/>
            </a:solidFill>
            <a:prstDash val="solid"/>
          </a:ln>
        </p:spPr>
      </p:sp>
      <p:sp>
        <p:nvSpPr>
          <p:cNvPr id="5" name="Text 3"/>
          <p:cNvSpPr txBox="1"/>
          <p:nvPr/>
        </p:nvSpPr>
        <p:spPr>
          <a:xfrm>
            <a:off x="731520" y="1508760"/>
            <a:ext cx="2944368" cy="365760"/>
          </a:xfrm>
          <a:prstGeom prst="rect">
            <a:avLst/>
          </a:prstGeom>
          <a:noFill/>
          <a:ln/>
        </p:spPr>
        <p:txBody>
          <a:bodyPr wrap="square" lIns="0" tIns="0" rIns="0" bIns="0" rtlCol="0" anchor="ctr"/>
          <a:lstStyle/>
          <a:p>
            <a:pPr indent="0" marL="0">
              <a:buNone/>
            </a:pPr>
            <a:r>
              <a:rPr lang="en-US" sz="1600" b="1" dirty="0">
                <a:solidFill>
                  <a:srgbClr val="1D232B"/>
                </a:solidFill>
                <a:latin typeface="Calibri" pitchFamily="34" charset="0"/>
                <a:ea typeface="Calibri" pitchFamily="34" charset="-122"/>
                <a:cs typeface="Calibri" pitchFamily="34" charset="-120"/>
              </a:rPr>
              <a:t>Console thread (main)</a:t>
            </a:r>
            <a:endParaRPr lang="en-US" sz="1600" dirty="0"/>
          </a:p>
        </p:txBody>
      </p:sp>
      <p:sp>
        <p:nvSpPr>
          <p:cNvPr id="6" name="Text 4"/>
          <p:cNvSpPr txBox="1"/>
          <p:nvPr/>
        </p:nvSpPr>
        <p:spPr>
          <a:xfrm>
            <a:off x="731520" y="1920240"/>
            <a:ext cx="3035808" cy="1463040"/>
          </a:xfrm>
          <a:prstGeom prst="rect">
            <a:avLst/>
          </a:prstGeom>
          <a:noFill/>
          <a:ln/>
        </p:spPr>
        <p:txBody>
          <a:bodyPr wrap="square" lIns="0" tIns="0" rIns="0" bIns="0" rtlCol="0" anchor="t"/>
          <a:lstStyle/>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loop:</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if !_kbhit(): sleep(polling_ms)</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else: key = _getch()</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edit line, redraw prompt</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on Enter: execute(command)</a:t>
            </a:r>
            <a:endParaRPr lang="en-US" sz="1100" dirty="0"/>
          </a:p>
        </p:txBody>
      </p:sp>
      <p:sp>
        <p:nvSpPr>
          <p:cNvPr id="7" name="Shape 5"/>
          <p:cNvSpPr/>
          <p:nvPr/>
        </p:nvSpPr>
        <p:spPr>
          <a:xfrm>
            <a:off x="4023360" y="1417320"/>
            <a:ext cx="3310128" cy="2057400"/>
          </a:xfrm>
          <a:prstGeom prst="roundRect">
            <a:avLst>
              <a:gd name="adj" fmla="val 3556"/>
            </a:avLst>
          </a:prstGeom>
          <a:solidFill>
            <a:srgbClr val="F2F4F7"/>
          </a:solidFill>
          <a:ln w="12700">
            <a:solidFill>
              <a:srgbClr val="F2F4F7"/>
            </a:solidFill>
            <a:prstDash val="solid"/>
          </a:ln>
        </p:spPr>
      </p:sp>
      <p:sp>
        <p:nvSpPr>
          <p:cNvPr id="8" name="Text 6"/>
          <p:cNvSpPr txBox="1"/>
          <p:nvPr/>
        </p:nvSpPr>
        <p:spPr>
          <a:xfrm>
            <a:off x="4206240" y="1508760"/>
            <a:ext cx="2944368" cy="365760"/>
          </a:xfrm>
          <a:prstGeom prst="rect">
            <a:avLst/>
          </a:prstGeom>
          <a:noFill/>
          <a:ln/>
        </p:spPr>
        <p:txBody>
          <a:bodyPr wrap="square" lIns="0" tIns="0" rIns="0" bIns="0" rtlCol="0" anchor="ctr"/>
          <a:lstStyle/>
          <a:p>
            <a:pPr indent="0" marL="0">
              <a:buNone/>
            </a:pPr>
            <a:r>
              <a:rPr lang="en-US" sz="1600" b="1" dirty="0">
                <a:solidFill>
                  <a:srgbClr val="1D232B"/>
                </a:solidFill>
                <a:latin typeface="Calibri" pitchFamily="34" charset="0"/>
                <a:ea typeface="Calibri" pitchFamily="34" charset="-122"/>
                <a:cs typeface="Calibri" pitchFamily="34" charset="-120"/>
              </a:rPr>
              <a:t>Marquee thread</a:t>
            </a:r>
            <a:endParaRPr lang="en-US" sz="1600" dirty="0"/>
          </a:p>
        </p:txBody>
      </p:sp>
      <p:sp>
        <p:nvSpPr>
          <p:cNvPr id="9" name="Text 7"/>
          <p:cNvSpPr txBox="1"/>
          <p:nvPr/>
        </p:nvSpPr>
        <p:spPr>
          <a:xfrm>
            <a:off x="4206240" y="1920240"/>
            <a:ext cx="3035808" cy="1463040"/>
          </a:xfrm>
          <a:prstGeom prst="rect">
            <a:avLst/>
          </a:prstGeom>
          <a:noFill/>
          <a:ln/>
        </p:spPr>
        <p:txBody>
          <a:bodyPr wrap="square" lIns="0" tIns="0" rIns="0" bIns="0" rtlCol="0" anchor="t"/>
          <a:lstStyle/>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every TICK_MS (10 ms):</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if running and due:</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draw frame, offset++</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next_frame += refresh_ms</a:t>
            </a:r>
            <a:endParaRPr lang="en-US" sz="1100" dirty="0"/>
          </a:p>
          <a:p>
            <a:pPr indent="0" marL="0">
              <a:lnSpc>
                <a:spcPts val="1500"/>
              </a:lnSpc>
              <a:buNone/>
            </a:pPr>
            <a:r>
              <a:rPr lang="en-US" sz="1100" dirty="0">
                <a:solidFill>
                  <a:srgbClr val="1D232B"/>
                </a:solidFill>
                <a:latin typeface="Courier New" pitchFamily="34" charset="0"/>
                <a:ea typeface="Courier New" pitchFamily="34" charset="-122"/>
                <a:cs typeface="Courier New" pitchFamily="34" charset="-120"/>
              </a:rPr>
              <a:t>  exits when alive_ = false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6784848" cy="914400"/>
        </p:xfrm>
        <a:graphic>
          <a:graphicData uri="http://schemas.openxmlformats.org/drawingml/2006/table">
            <a:tbl>
              <a:tblPr/>
              <a:tblGrid>
                <a:gridCol w="2011680"/>
                <a:gridCol w="1828800"/>
                <a:gridCol w="2944368"/>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Shared state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Protected by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Written by → read by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text_</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std::mutex</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set_text → marquee thread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running_</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std::atomic&lt;bool&gt;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start / stop_marquee → marquee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refresh_ms_</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std::atomic&lt;int&gt;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set_speed → marquee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frame_requested_</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std::atomic&lt;bool&gt;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start, set_speed → marquee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alive_</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std::atomic&lt;bool&gt;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destructor on exit → marquee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std::cout</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Console::mutex_</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both threads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bl>
          </a:graphicData>
        </a:graphic>
      </p:graphicFrame>
      <p:sp>
        <p:nvSpPr>
          <p:cNvPr id="11" name="Shape 8"/>
          <p:cNvSpPr/>
          <p:nvPr/>
        </p:nvSpPr>
        <p:spPr>
          <a:xfrm>
            <a:off x="7726680" y="1417320"/>
            <a:ext cx="3916375" cy="4937760"/>
          </a:xfrm>
          <a:prstGeom prst="roundRect">
            <a:avLst>
              <a:gd name="adj" fmla="val 1868"/>
            </a:avLst>
          </a:prstGeom>
          <a:solidFill>
            <a:srgbClr val="0F1216"/>
          </a:solidFill>
          <a:ln w="12700">
            <a:solidFill>
              <a:srgbClr val="0F1216"/>
            </a:solidFill>
            <a:prstDash val="solid"/>
          </a:ln>
        </p:spPr>
      </p:sp>
      <p:sp>
        <p:nvSpPr>
          <p:cNvPr id="12" name="Text 9"/>
          <p:cNvSpPr txBox="1"/>
          <p:nvPr/>
        </p:nvSpPr>
        <p:spPr>
          <a:xfrm>
            <a:off x="8001000" y="1645920"/>
            <a:ext cx="3367735" cy="274320"/>
          </a:xfrm>
          <a:prstGeom prst="rect">
            <a:avLst/>
          </a:prstGeom>
          <a:noFill/>
          <a:ln/>
        </p:spPr>
        <p:txBody>
          <a:bodyPr wrap="square" lIns="0" tIns="0" rIns="0" bIns="0" rtlCol="0" anchor="ctr"/>
          <a:lstStyle/>
          <a:p>
            <a:pPr indent="0" marL="0">
              <a:buNone/>
            </a:pPr>
            <a:r>
              <a:rPr lang="en-US" sz="1100" b="1" spc="100" kern="0" dirty="0">
                <a:solidFill>
                  <a:srgbClr val="F5A524"/>
                </a:solidFill>
                <a:latin typeface="Courier New" pitchFamily="34" charset="0"/>
                <a:ea typeface="Courier New" pitchFamily="34" charset="-122"/>
                <a:cs typeface="Courier New" pitchFamily="34" charset="-120"/>
              </a:rPr>
              <a:t>THE REAL SCHEDULER</a:t>
            </a:r>
            <a:endParaRPr lang="en-US" sz="1100" dirty="0"/>
          </a:p>
        </p:txBody>
      </p:sp>
      <p:sp>
        <p:nvSpPr>
          <p:cNvPr id="13" name="Text 10"/>
          <p:cNvSpPr txBox="1"/>
          <p:nvPr/>
        </p:nvSpPr>
        <p:spPr>
          <a:xfrm>
            <a:off x="8001000" y="1965960"/>
            <a:ext cx="3367735" cy="914400"/>
          </a:xfrm>
          <a:prstGeom prst="rect">
            <a:avLst/>
          </a:prstGeom>
          <a:noFill/>
          <a:ln/>
        </p:spPr>
        <p:txBody>
          <a:bodyPr wrap="square" lIns="0" tIns="0" rIns="0" bIns="0" rtlCol="0" anchor="ctr"/>
          <a:lstStyle/>
          <a:p>
            <a:pPr indent="0" marL="0">
              <a:buNone/>
            </a:pPr>
            <a:r>
              <a:rPr lang="en-US" sz="5400" b="1" dirty="0">
                <a:solidFill>
                  <a:srgbClr val="F5A524"/>
                </a:solidFill>
                <a:latin typeface="Calibri" pitchFamily="34" charset="0"/>
                <a:ea typeface="Calibri" pitchFamily="34" charset="-122"/>
                <a:cs typeface="Calibri" pitchFamily="34" charset="-120"/>
              </a:rPr>
              <a:t>15.6 ms</a:t>
            </a:r>
            <a:endParaRPr lang="en-US" sz="5400" dirty="0"/>
          </a:p>
        </p:txBody>
      </p:sp>
      <p:sp>
        <p:nvSpPr>
          <p:cNvPr id="14" name="Text 11"/>
          <p:cNvSpPr txBox="1"/>
          <p:nvPr/>
        </p:nvSpPr>
        <p:spPr>
          <a:xfrm>
            <a:off x="8001000" y="2880360"/>
            <a:ext cx="3367735"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Windows timer tick: the shortest real sleep</a:t>
            </a:r>
            <a:endParaRPr lang="en-US" sz="1400" dirty="0"/>
          </a:p>
        </p:txBody>
      </p:sp>
      <p:sp>
        <p:nvSpPr>
          <p:cNvPr id="15" name="Text 12"/>
          <p:cNvSpPr txBox="1"/>
          <p:nvPr/>
        </p:nvSpPr>
        <p:spPr>
          <a:xfrm>
            <a:off x="8001000" y="3383280"/>
            <a:ext cx="3367735" cy="2743200"/>
          </a:xfrm>
          <a:prstGeom prst="rect">
            <a:avLst/>
          </a:prstGeom>
          <a:noFill/>
          <a:ln/>
        </p:spPr>
        <p:txBody>
          <a:bodyPr wrap="square" lIns="0" tIns="0" rIns="0" bIns="0" rtlCol="0" anchor="t"/>
          <a:lstStyle/>
          <a:p>
            <a:pPr indent="0" marL="0">
              <a:spcAft>
                <a:spcPts val="1000"/>
              </a:spcAft>
              <a:buNone/>
            </a:pPr>
            <a:r>
              <a:rPr lang="en-US" sz="1350" dirty="0">
                <a:solidFill>
                  <a:srgbClr val="C9D0D8"/>
                </a:solidFill>
                <a:latin typeface="Calibri" pitchFamily="34" charset="0"/>
                <a:ea typeface="Calibri" pitchFamily="34" charset="-122"/>
                <a:cs typeface="Calibri" pitchFamily="34" charset="-120"/>
              </a:rPr>
              <a:t>Both loops only pick sleep lengths; Windows decides when a thread runs again.</a:t>
            </a:r>
            <a:endParaRPr lang="en-US" sz="1350" dirty="0"/>
          </a:p>
          <a:p>
            <a:pPr indent="0" marL="0">
              <a:spcAft>
                <a:spcPts val="1000"/>
              </a:spcAft>
              <a:buNone/>
            </a:pPr>
            <a:r>
              <a:rPr lang="en-US" sz="1350" dirty="0">
                <a:solidFill>
                  <a:srgbClr val="C9D0D8"/>
                </a:solidFill>
                <a:latin typeface="Calibri" pitchFamily="34" charset="0"/>
                <a:ea typeface="Calibri" pitchFamily="34" charset="-122"/>
                <a:cs typeface="Calibri" pitchFamily="34" charset="-120"/>
              </a:rPr>
              <a:t>Measured: sleep(1 ms) lasted 15.5 ms, and set_speed 1 gave a frame every 15.6 ms.</a:t>
            </a:r>
            <a:endParaRPr lang="en-US" sz="1350" dirty="0"/>
          </a:p>
          <a:p>
            <a:pPr indent="0" marL="0">
              <a:spcAft>
                <a:spcPts val="1000"/>
              </a:spcAft>
              <a:buNone/>
            </a:pPr>
            <a:r>
              <a:rPr lang="en-US" sz="1350" dirty="0">
                <a:solidFill>
                  <a:srgbClr val="C9D0D8"/>
                </a:solidFill>
                <a:latin typeface="Calibri" pitchFamily="34" charset="0"/>
                <a:ea typeface="Calibri" pitchFamily="34" charset="-122"/>
                <a:cs typeface="Calibri" pitchFamily="34" charset="-120"/>
              </a:rPr>
              <a:t>Longer sleeps round up to the next tick: set_poll 20 → 31.0 ms.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06 / FINDING THE BALANCE</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Refresh rate vs. polling rate</a:t>
            </a:r>
            <a:endParaRPr lang="en-US" sz="3200" dirty="0"/>
          </a:p>
        </p:txBody>
      </p:sp>
      <p:sp>
        <p:nvSpPr>
          <p:cNvPr id="4" name="Shape 2"/>
          <p:cNvSpPr/>
          <p:nvPr/>
        </p:nvSpPr>
        <p:spPr>
          <a:xfrm>
            <a:off x="548640" y="1417320"/>
            <a:ext cx="5577840" cy="2286000"/>
          </a:xfrm>
          <a:prstGeom prst="roundRect">
            <a:avLst>
              <a:gd name="adj" fmla="val 3200"/>
            </a:avLst>
          </a:prstGeom>
          <a:solidFill>
            <a:srgbClr val="F2F4F7"/>
          </a:solidFill>
          <a:ln w="12700">
            <a:solidFill>
              <a:srgbClr val="F2F4F7"/>
            </a:solidFill>
            <a:prstDash val="solid"/>
          </a:ln>
        </p:spPr>
      </p:sp>
      <p:sp>
        <p:nvSpPr>
          <p:cNvPr id="5" name="Text 3"/>
          <p:cNvSpPr txBox="1"/>
          <p:nvPr/>
        </p:nvSpPr>
        <p:spPr>
          <a:xfrm>
            <a:off x="777240" y="1554480"/>
            <a:ext cx="5120640" cy="2011680"/>
          </a:xfrm>
          <a:prstGeom prst="rect">
            <a:avLst/>
          </a:prstGeom>
          <a:noFill/>
          <a:ln/>
        </p:spPr>
        <p:txBody>
          <a:bodyPr wrap="square" lIns="0" tIns="0" rIns="0" bIns="0" rtlCol="0" anchor="t"/>
          <a:lstStyle/>
          <a:p>
            <a:pPr indent="0" marL="0">
              <a:spcAft>
                <a:spcPts val="500"/>
              </a:spcAft>
              <a:buNone/>
            </a:pPr>
            <a:r>
              <a:rPr lang="en-US" sz="1900" b="1" dirty="0">
                <a:solidFill>
                  <a:srgbClr val="1D232B"/>
                </a:solidFill>
                <a:latin typeface="Calibri" pitchFamily="34" charset="0"/>
                <a:ea typeface="Calibri" pitchFamily="34" charset="-122"/>
                <a:cs typeface="Calibri" pitchFamily="34" charset="-120"/>
              </a:rPr>
              <a:t>Refresh rate</a:t>
            </a:r>
            <a:endParaRPr lang="en-US" sz="1900" dirty="0"/>
          </a:p>
          <a:p>
            <a:pPr indent="0" marL="0">
              <a:spcAft>
                <a:spcPts val="500"/>
              </a:spcAft>
              <a:buNone/>
            </a:pPr>
            <a:r>
              <a:rPr lang="en-US" sz="1100" dirty="0">
                <a:solidFill>
                  <a:srgbClr val="A35F00"/>
                </a:solidFill>
                <a:latin typeface="Courier New" pitchFamily="34" charset="0"/>
                <a:ea typeface="Courier New" pitchFamily="34" charset="-122"/>
                <a:cs typeface="Courier New" pitchFamily="34" charset="-120"/>
              </a:rPr>
              <a:t>config.txt refresh-rate  ·  set_speed &lt;ms&gt;</a:t>
            </a:r>
            <a:endParaRPr lang="en-US" sz="1900" dirty="0"/>
          </a:p>
          <a:p>
            <a:pPr indent="0" marL="0">
              <a:spcAft>
                <a:spcPts val="500"/>
              </a:spcAft>
              <a:buNone/>
            </a:pPr>
            <a:r>
              <a:rPr lang="en-US" sz="1300" dirty="0">
                <a:solidFill>
                  <a:srgbClr val="1D232B"/>
                </a:solidFill>
                <a:latin typeface="Calibri" pitchFamily="34" charset="0"/>
                <a:ea typeface="Calibri" pitchFamily="34" charset="-122"/>
                <a:cs typeface="Calibri" pitchFamily="34" charset="-120"/>
              </a:rPr>
              <a:t>How often the marquee thread redraws the 8 rows.</a:t>
            </a:r>
            <a:endParaRPr lang="en-US" sz="1900" dirty="0"/>
          </a:p>
          <a:p>
            <a:pPr marL="342900" indent="-342900">
              <a:spcAft>
                <a:spcPts val="500"/>
              </a:spcAft>
              <a:buSzPct val="100000"/>
              <a:buChar char="•"/>
            </a:pPr>
            <a:r>
              <a:rPr lang="en-US" sz="1300" dirty="0">
                <a:solidFill>
                  <a:srgbClr val="5F6B78"/>
                </a:solidFill>
                <a:latin typeface="Calibri" pitchFamily="34" charset="0"/>
                <a:ea typeface="Calibri" pitchFamily="34" charset="-122"/>
                <a:cs typeface="Calibri" pitchFamily="34" charset="-120"/>
              </a:rPr>
              <a:t>Too fast: frames outpace the console's repaint (tearing, skipped columns).</a:t>
            </a:r>
            <a:endParaRPr lang="en-US" sz="1900" dirty="0"/>
          </a:p>
          <a:p>
            <a:pPr marL="342900" indent="-342900">
              <a:spcAft>
                <a:spcPts val="500"/>
              </a:spcAft>
              <a:buSzPct val="100000"/>
              <a:buChar char="•"/>
            </a:pPr>
            <a:r>
              <a:rPr lang="en-US" sz="1300" dirty="0">
                <a:solidFill>
                  <a:srgbClr val="5F6B78"/>
                </a:solidFill>
                <a:latin typeface="Calibri" pitchFamily="34" charset="0"/>
                <a:ea typeface="Calibri" pitchFamily="34" charset="-122"/>
                <a:cs typeface="Calibri" pitchFamily="34" charset="-120"/>
              </a:rPr>
              <a:t>Too slow: the text crawls and looks choppy.</a:t>
            </a:r>
            <a:endParaRPr lang="en-US" sz="1900" dirty="0"/>
          </a:p>
        </p:txBody>
      </p:sp>
      <p:sp>
        <p:nvSpPr>
          <p:cNvPr id="6" name="Shape 4"/>
          <p:cNvSpPr/>
          <p:nvPr/>
        </p:nvSpPr>
        <p:spPr>
          <a:xfrm>
            <a:off x="548640" y="3931920"/>
            <a:ext cx="5577840" cy="2286000"/>
          </a:xfrm>
          <a:prstGeom prst="roundRect">
            <a:avLst>
              <a:gd name="adj" fmla="val 3200"/>
            </a:avLst>
          </a:prstGeom>
          <a:solidFill>
            <a:srgbClr val="F2F4F7"/>
          </a:solidFill>
          <a:ln w="12700">
            <a:solidFill>
              <a:srgbClr val="F2F4F7"/>
            </a:solidFill>
            <a:prstDash val="solid"/>
          </a:ln>
        </p:spPr>
      </p:sp>
      <p:sp>
        <p:nvSpPr>
          <p:cNvPr id="7" name="Text 5"/>
          <p:cNvSpPr txBox="1"/>
          <p:nvPr/>
        </p:nvSpPr>
        <p:spPr>
          <a:xfrm>
            <a:off x="777240" y="4069080"/>
            <a:ext cx="5120640" cy="2011680"/>
          </a:xfrm>
          <a:prstGeom prst="rect">
            <a:avLst/>
          </a:prstGeom>
          <a:noFill/>
          <a:ln/>
        </p:spPr>
        <p:txBody>
          <a:bodyPr wrap="square" lIns="0" tIns="0" rIns="0" bIns="0" rtlCol="0" anchor="t"/>
          <a:lstStyle/>
          <a:p>
            <a:pPr indent="0" marL="0">
              <a:spcAft>
                <a:spcPts val="500"/>
              </a:spcAft>
              <a:buNone/>
            </a:pPr>
            <a:r>
              <a:rPr lang="en-US" sz="1900" b="1" dirty="0">
                <a:solidFill>
                  <a:srgbClr val="1D232B"/>
                </a:solidFill>
                <a:latin typeface="Calibri" pitchFamily="34" charset="0"/>
                <a:ea typeface="Calibri" pitchFamily="34" charset="-122"/>
                <a:cs typeface="Calibri" pitchFamily="34" charset="-120"/>
              </a:rPr>
              <a:t>Polling rate</a:t>
            </a:r>
            <a:endParaRPr lang="en-US" sz="1900" dirty="0"/>
          </a:p>
          <a:p>
            <a:pPr indent="0" marL="0">
              <a:spcAft>
                <a:spcPts val="500"/>
              </a:spcAft>
              <a:buNone/>
            </a:pPr>
            <a:r>
              <a:rPr lang="en-US" sz="1100" dirty="0">
                <a:solidFill>
                  <a:srgbClr val="A35F00"/>
                </a:solidFill>
                <a:latin typeface="Courier New" pitchFamily="34" charset="0"/>
                <a:ea typeface="Courier New" pitchFamily="34" charset="-122"/>
                <a:cs typeface="Courier New" pitchFamily="34" charset="-120"/>
              </a:rPr>
              <a:t>config.txt polling-rate  ·  set_poll &lt;ms&gt;</a:t>
            </a:r>
            <a:endParaRPr lang="en-US" sz="1900" dirty="0"/>
          </a:p>
          <a:p>
            <a:pPr indent="0" marL="0">
              <a:spcAft>
                <a:spcPts val="500"/>
              </a:spcAft>
              <a:buNone/>
            </a:pPr>
            <a:r>
              <a:rPr lang="en-US" sz="1300" dirty="0">
                <a:solidFill>
                  <a:srgbClr val="1D232B"/>
                </a:solidFill>
                <a:latin typeface="Calibri" pitchFamily="34" charset="0"/>
                <a:ea typeface="Calibri" pitchFamily="34" charset="-122"/>
                <a:cs typeface="Calibri" pitchFamily="34" charset="-120"/>
              </a:rPr>
              <a:t>How often the console thread checks _kbhit().</a:t>
            </a:r>
            <a:endParaRPr lang="en-US" sz="1900" dirty="0"/>
          </a:p>
          <a:p>
            <a:pPr marL="342900" indent="-342900">
              <a:spcAft>
                <a:spcPts val="500"/>
              </a:spcAft>
              <a:buSzPct val="100000"/>
              <a:buChar char="•"/>
            </a:pPr>
            <a:r>
              <a:rPr lang="en-US" sz="1300" dirty="0">
                <a:solidFill>
                  <a:srgbClr val="5F6B78"/>
                </a:solidFill>
                <a:latin typeface="Calibri" pitchFamily="34" charset="0"/>
                <a:ea typeface="Calibri" pitchFamily="34" charset="-122"/>
                <a:cs typeface="Calibri" pitchFamily="34" charset="-120"/>
              </a:rPr>
              <a:t>Too fast: no gain below the timer tick, only extra wake-ups.</a:t>
            </a:r>
            <a:endParaRPr lang="en-US" sz="1900" dirty="0"/>
          </a:p>
          <a:p>
            <a:pPr marL="342900" indent="-342900">
              <a:spcAft>
                <a:spcPts val="500"/>
              </a:spcAft>
              <a:buSzPct val="100000"/>
              <a:buChar char="•"/>
            </a:pPr>
            <a:r>
              <a:rPr lang="en-US" sz="1300" dirty="0">
                <a:solidFill>
                  <a:srgbClr val="5F6B78"/>
                </a:solidFill>
                <a:latin typeface="Calibri" pitchFamily="34" charset="0"/>
                <a:ea typeface="Calibri" pitchFamily="34" charset="-122"/>
                <a:cs typeface="Calibri" pitchFamily="34" charset="-120"/>
              </a:rPr>
              <a:t>Too slow: typed characters appear late or in bursts.</a:t>
            </a:r>
            <a:endParaRPr lang="en-US" sz="1900" dirty="0"/>
          </a:p>
        </p:txBody>
      </p:sp>
      <p:sp>
        <p:nvSpPr>
          <p:cNvPr id="8" name="Text 6"/>
          <p:cNvSpPr txBox="1"/>
          <p:nvPr/>
        </p:nvSpPr>
        <p:spPr>
          <a:xfrm>
            <a:off x="6446520" y="1417320"/>
            <a:ext cx="5196535" cy="365760"/>
          </a:xfrm>
          <a:prstGeom prst="rect">
            <a:avLst/>
          </a:prstGeom>
          <a:noFill/>
          <a:ln/>
        </p:spPr>
        <p:txBody>
          <a:bodyPr wrap="square" lIns="0" tIns="0" rIns="0" bIns="0" rtlCol="0" anchor="ctr"/>
          <a:lstStyle/>
          <a:p>
            <a:pPr indent="0" marL="0">
              <a:buNone/>
            </a:pPr>
            <a:r>
              <a:rPr lang="en-US" sz="1800" b="1" dirty="0">
                <a:solidFill>
                  <a:srgbClr val="1D232B"/>
                </a:solidFill>
                <a:latin typeface="Calibri" pitchFamily="34" charset="0"/>
                <a:ea typeface="Calibri" pitchFamily="34" charset="-122"/>
                <a:cs typeface="Calibri" pitchFamily="34" charset="-120"/>
              </a:rPr>
              <a:t>How we measured</a:t>
            </a:r>
            <a:endParaRPr lang="en-US" sz="1800" dirty="0"/>
          </a:p>
        </p:txBody>
      </p:sp>
      <p:sp>
        <p:nvSpPr>
          <p:cNvPr id="9" name="Text 7"/>
          <p:cNvSpPr txBox="1"/>
          <p:nvPr/>
        </p:nvSpPr>
        <p:spPr>
          <a:xfrm>
            <a:off x="6446520" y="1828800"/>
            <a:ext cx="5196535" cy="21031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D232B"/>
                </a:solidFill>
                <a:latin typeface="Calibri" pitchFamily="34" charset="0"/>
                <a:ea typeface="Calibri" pitchFamily="34" charset="-122"/>
                <a:cs typeface="Calibri" pitchFamily="34" charset="-120"/>
              </a:rPr>
              <a:t>Ran the release build in a 120 × 30 console with the marquee running.</a:t>
            </a:r>
            <a:endParaRPr lang="en-US" sz="1300" dirty="0"/>
          </a:p>
          <a:p>
            <a:pPr marL="342900" indent="-342900">
              <a:spcAft>
                <a:spcPts val="600"/>
              </a:spcAft>
              <a:buSzPct val="100000"/>
              <a:buFont typeface="+mj-lt"/>
              <a:buAutoNum type="arabicPeriod" startAt="1"/>
            </a:pPr>
            <a:r>
              <a:rPr lang="en-US" sz="1300" dirty="0">
                <a:solidFill>
                  <a:srgbClr val="1D232B"/>
                </a:solidFill>
                <a:latin typeface="Calibri" pitchFamily="34" charset="0"/>
                <a:ea typeface="Calibri" pitchFamily="34" charset="-122"/>
                <a:cs typeface="Calibri" pitchFamily="34" charset="-120"/>
              </a:rPr>
              <a:t>For each value: set it, type about 70 keystrokes over 8 s, then read stats (frame interval, late frames, draw time, polling sleep, key-to-screen).</a:t>
            </a:r>
            <a:endParaRPr lang="en-US" sz="1300" dirty="0"/>
          </a:p>
          <a:p>
            <a:pPr marL="342900" indent="-342900">
              <a:spcAft>
                <a:spcPts val="600"/>
              </a:spcAft>
              <a:buSzPct val="100000"/>
              <a:buFont typeface="+mj-lt"/>
              <a:buAutoNum type="arabicPeriod" startAt="1"/>
            </a:pPr>
            <a:r>
              <a:rPr lang="en-US" sz="1300" dirty="0">
                <a:solidFill>
                  <a:srgbClr val="1D232B"/>
                </a:solidFill>
                <a:latin typeface="Calibri" pitchFamily="34" charset="0"/>
                <a:ea typeface="Calibri" pitchFamily="34" charset="-122"/>
                <a:cs typeface="Calibri" pitchFamily="34" charset="-120"/>
              </a:rPr>
              <a:t>Changed one knob at a time: polling held at 10 ms for the refresh sweep, refresh held at 100 ms for the polling sweep.</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46520" y="3977640"/>
          <a:ext cx="5196535" cy="914400"/>
        </p:xfrm>
        <a:graphic>
          <a:graphicData uri="http://schemas.openxmlformats.org/drawingml/2006/table">
            <a:tbl>
              <a:tblPr/>
              <a:tblGrid>
                <a:gridCol w="1234440"/>
                <a:gridCol w="3962095"/>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hardware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r>
              <a:tr h="329184">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AMD Ryzen 5 5600 (6 cores / 12 threads)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32 GB</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29184">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OS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Windows 11 Pro (build 26200)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Display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Radeon RX 9060 XT, 2560 × 1440 at 120 Hz</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29184">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Build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C++17, -O2 (Clang / MinGW-w64)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6446520" y="6053328"/>
            <a:ext cx="5196535" cy="411480"/>
          </a:xfrm>
          <a:prstGeom prst="rect">
            <a:avLst/>
          </a:prstGeom>
          <a:noFill/>
          <a:ln/>
        </p:spPr>
        <p:txBody>
          <a:bodyPr wrap="square" lIns="0" tIns="0" rIns="0" bIns="0" rtlCol="0" anchor="ctr"/>
          <a:lstStyle/>
          <a:p>
            <a:pPr indent="0" marL="0">
              <a:buNone/>
            </a:pPr>
            <a:r>
              <a:rPr lang="en-US" sz="1100" i="1" dirty="0">
                <a:solidFill>
                  <a:srgbClr val="5F6B78"/>
                </a:solidFill>
                <a:latin typeface="Calibri" pitchFamily="34" charset="0"/>
                <a:ea typeface="Calibri" pitchFamily="34" charset="-122"/>
                <a:cs typeface="Calibri" pitchFamily="34" charset="-120"/>
              </a:rPr>
              <a:t>An earlier MSVC Release build on the same CPU (docs/MEASUREMENTS.md) gave the same picture: 100 ms → 99.97 ms, polling floor 15.49 ms.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06 / RESULTS: REFRESH RATE</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Below ~16 ms, set_speed stops mattering</a:t>
            </a:r>
            <a:endParaRPr lang="en-US" sz="3200" dirty="0"/>
          </a:p>
        </p:txBody>
      </p:sp>
      <p:graphicFrame>
        <p:nvGraphicFramePr>
          <p:cNvPr id="4" name="Chart 0" descr=""/>
          <p:cNvGraphicFramePr/>
          <p:nvPr/>
        </p:nvGraphicFramePr>
        <p:xfrm>
          <a:off x="548640" y="1371600"/>
          <a:ext cx="672084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142232" cy="914400"/>
        </p:xfrm>
        <a:graphic>
          <a:graphicData uri="http://schemas.openxmlformats.org/drawingml/2006/table">
            <a:tbl>
              <a:tblPr/>
              <a:tblGrid>
                <a:gridCol w="1005840"/>
                <a:gridCol w="1280160"/>
                <a:gridCol w="185623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set_speed</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late / drawn</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reading</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542 / 543</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timer floor</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5</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543 / 544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timer floor</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532 / 544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timer floor</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16</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13 / 530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rare 31 ms gap</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20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119 / 424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15.6 / 31.2 ms stutter</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33</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0 / 257</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smooth</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50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0 / 170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smooth</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100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0 / 85</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smooth</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250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0 / 34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smooth</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1000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0 / 13</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smooth</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bl>
          </a:graphicData>
        </a:graphic>
      </p:graphicFrame>
      <p:sp>
        <p:nvSpPr>
          <p:cNvPr id="6" name="Text 2"/>
          <p:cNvSpPr txBox="1"/>
          <p:nvPr/>
        </p:nvSpPr>
        <p:spPr>
          <a:xfrm>
            <a:off x="7498080" y="5486400"/>
            <a:ext cx="4142232" cy="868680"/>
          </a:xfrm>
          <a:prstGeom prst="rect">
            <a:avLst/>
          </a:prstGeom>
          <a:noFill/>
          <a:ln/>
        </p:spPr>
        <p:txBody>
          <a:bodyPr wrap="square" lIns="0" tIns="0" rIns="0" bIns="0" rtlCol="0" anchor="t"/>
          <a:lstStyle/>
          <a:p>
            <a:pPr indent="0" marL="0">
              <a:buNone/>
            </a:pPr>
            <a:r>
              <a:rPr lang="en-US" sz="1150" i="1" dirty="0">
                <a:solidFill>
                  <a:srgbClr val="5F6B78"/>
                </a:solidFill>
                <a:latin typeface="Calibri" pitchFamily="34" charset="0"/>
                <a:ea typeface="Calibri" pitchFamily="34" charset="-122"/>
                <a:cs typeface="Calibri" pitchFamily="34" charset="-120"/>
              </a:rPr>
              <a:t>A frame is late when it arrives more than 1.5 × set_speed after the previous one. Drawing a frame took 0.16–0.19 ms at every setting, so the terminal was never the bottleneck.</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06 / RESULTS: POLLING RATE</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Typing lag grows with the polling interval</a:t>
            </a:r>
            <a:endParaRPr lang="en-US" sz="3200" dirty="0"/>
          </a:p>
        </p:txBody>
      </p:sp>
      <p:graphicFrame>
        <p:nvGraphicFramePr>
          <p:cNvPr id="4" name="Chart 0" descr=""/>
          <p:cNvGraphicFramePr/>
          <p:nvPr/>
        </p:nvGraphicFramePr>
        <p:xfrm>
          <a:off x="548640" y="1371600"/>
          <a:ext cx="672084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142232" cy="914400"/>
        </p:xfrm>
        <a:graphic>
          <a:graphicData uri="http://schemas.openxmlformats.org/drawingml/2006/table">
            <a:tbl>
              <a:tblPr/>
              <a:tblGrid>
                <a:gridCol w="914400"/>
                <a:gridCol w="1097280"/>
                <a:gridCol w="960120"/>
                <a:gridCol w="117043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set_poll</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sleep avg</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worst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feel*</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1D232B"/>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5</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16.9</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15</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31.4</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20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33</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46.6</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48.2</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instant</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50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62.1</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64.0</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fine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100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108.8</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111.9</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noticeable</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200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202.9</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215.2</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laggy</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D232B"/>
                          </a:solidFill>
                          <a:latin typeface="Courier New" pitchFamily="34" charset="0"/>
                          <a:ea typeface="Courier New" pitchFamily="34" charset="-122"/>
                          <a:cs typeface="Courier New" pitchFamily="34" charset="-120"/>
                        </a:rPr>
                        <a:t>500</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511.3</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dirty="0">
                          <a:solidFill>
                            <a:srgbClr val="1D232B"/>
                          </a:solidFill>
                          <a:latin typeface="Calibri" pitchFamily="34" charset="0"/>
                          <a:ea typeface="Calibri" pitchFamily="34" charset="-122"/>
                          <a:cs typeface="Calibri" pitchFamily="34" charset="-120"/>
                        </a:rPr>
                        <a:t>515.2</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c>
                  <a:txBody>
                    <a:bodyPr/>
                    <a:lstStyle/>
                    <a:p>
                      <a:pPr indent="0" marL="0">
                        <a:buNone/>
                      </a:pPr>
                      <a:r>
                        <a:rPr lang="en-US" sz="1200" b="1" dirty="0">
                          <a:solidFill>
                            <a:srgbClr val="A35F00"/>
                          </a:solidFill>
                          <a:latin typeface="Calibri" pitchFamily="34" charset="0"/>
                          <a:ea typeface="Calibri" pitchFamily="34" charset="-122"/>
                          <a:cs typeface="Calibri" pitchFamily="34" charset="-120"/>
                        </a:rPr>
                        <a:t>bursts</a:t>
                      </a:r>
                      <a:endParaRPr lang="en-US" sz="1200" dirty="0">
                        <a:latin typeface="Calibri" charset="0"/>
                        <a:ea typeface="Calibri" charset="0"/>
                        <a:cs typeface="Calibri" charset="0"/>
                      </a:endParaRPr>
                    </a:p>
                  </a:txBody>
                  <a:tcPr marL="76200" marR="76200" marT="38100" marB="38100" anchor="ctr">
                    <a:lnL w="9525" cap="flat" cmpd="sng" algn="ctr">
                      <a:solidFill>
                        <a:srgbClr val="DDE2E8"/>
                      </a:solidFill>
                      <a:prstDash val="solid"/>
                      <a:round/>
                      <a:headEnd type="none" w="med" len="med"/>
                      <a:tailEnd type="none" w="med" len="med"/>
                    </a:lnL>
                    <a:lnR w="9525" cap="flat" cmpd="sng" algn="ctr">
                      <a:solidFill>
                        <a:srgbClr val="DDE2E8"/>
                      </a:solidFill>
                      <a:prstDash val="solid"/>
                      <a:round/>
                      <a:headEnd type="none" w="med" len="med"/>
                      <a:tailEnd type="none" w="med" len="med"/>
                    </a:lnR>
                    <a:lnT w="9525" cap="flat" cmpd="sng" algn="ctr">
                      <a:solidFill>
                        <a:srgbClr val="DDE2E8"/>
                      </a:solidFill>
                      <a:prstDash val="solid"/>
                      <a:round/>
                      <a:headEnd type="none" w="med" len="med"/>
                      <a:tailEnd type="none" w="med" len="med"/>
                    </a:lnT>
                    <a:lnB w="9525" cap="flat" cmpd="sng" algn="ctr">
                      <a:solidFill>
                        <a:srgbClr val="DDE2E8"/>
                      </a:solidFill>
                      <a:prstDash val="solid"/>
                      <a:round/>
                      <a:headEnd type="none" w="med" len="med"/>
                      <a:tailEnd type="none" w="med" len="med"/>
                    </a:lnB>
                    <a:solidFill>
                      <a:srgbClr val="F2F4F7"/>
                    </a:solidFill>
                  </a:tcPr>
                </a:tc>
              </a:tr>
            </a:tbl>
          </a:graphicData>
        </a:graphic>
      </p:graphicFrame>
      <p:sp>
        <p:nvSpPr>
          <p:cNvPr id="6" name="Text 2"/>
          <p:cNvSpPr txBox="1"/>
          <p:nvPr/>
        </p:nvSpPr>
        <p:spPr>
          <a:xfrm>
            <a:off x="7498080" y="5486400"/>
            <a:ext cx="4142232" cy="868680"/>
          </a:xfrm>
          <a:prstGeom prst="rect">
            <a:avLst/>
          </a:prstGeom>
          <a:noFill/>
          <a:ln/>
        </p:spPr>
        <p:txBody>
          <a:bodyPr wrap="square" lIns="0" tIns="0" rIns="0" bIns="0" rtlCol="0" anchor="t"/>
          <a:lstStyle/>
          <a:p>
            <a:pPr indent="0" marL="0">
              <a:buNone/>
            </a:pPr>
            <a:r>
              <a:rPr lang="en-US" sz="1150" i="1" dirty="0">
                <a:solidFill>
                  <a:srgbClr val="5F6B78"/>
                </a:solidFill>
                <a:latin typeface="Calibri" pitchFamily="34" charset="0"/>
                <a:ea typeface="Calibri" pitchFamily="34" charset="-122"/>
                <a:cs typeface="Calibri" pitchFamily="34" charset="-120"/>
              </a:rPr>
              <a:t>Worst = longest polling sleep + longest key-to-screen time (0.15–0.50 ms). *Judged against the ~100 ms point at which input lag becomes perceptible.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06 / RECOMMENDED VALUES &amp; LIMITS</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Recommended: refresh 100 ms, polling 10 ms</a:t>
            </a:r>
            <a:endParaRPr lang="en-US" sz="3200" dirty="0"/>
          </a:p>
        </p:txBody>
      </p:sp>
      <p:sp>
        <p:nvSpPr>
          <p:cNvPr id="4" name="Shape 2"/>
          <p:cNvSpPr/>
          <p:nvPr/>
        </p:nvSpPr>
        <p:spPr>
          <a:xfrm>
            <a:off x="548640" y="1417320"/>
            <a:ext cx="5410048" cy="1874520"/>
          </a:xfrm>
          <a:prstGeom prst="roundRect">
            <a:avLst>
              <a:gd name="adj" fmla="val 3902"/>
            </a:avLst>
          </a:prstGeom>
          <a:solidFill>
            <a:srgbClr val="0F1216"/>
          </a:solidFill>
          <a:ln w="12700">
            <a:solidFill>
              <a:srgbClr val="0F1216"/>
            </a:solidFill>
            <a:prstDash val="solid"/>
          </a:ln>
        </p:spPr>
      </p:sp>
      <p:sp>
        <p:nvSpPr>
          <p:cNvPr id="5" name="Text 3"/>
          <p:cNvSpPr txBox="1"/>
          <p:nvPr/>
        </p:nvSpPr>
        <p:spPr>
          <a:xfrm>
            <a:off x="822960" y="1554480"/>
            <a:ext cx="2377440" cy="914400"/>
          </a:xfrm>
          <a:prstGeom prst="rect">
            <a:avLst/>
          </a:prstGeom>
          <a:noFill/>
          <a:ln/>
        </p:spPr>
        <p:txBody>
          <a:bodyPr wrap="square" lIns="0" tIns="0" rIns="0" bIns="0" rtlCol="0" anchor="ctr"/>
          <a:lstStyle/>
          <a:p>
            <a:pPr indent="0" marL="0">
              <a:buNone/>
            </a:pPr>
            <a:r>
              <a:rPr lang="en-US" sz="5400" b="1" dirty="0">
                <a:solidFill>
                  <a:srgbClr val="F5A524"/>
                </a:solidFill>
                <a:latin typeface="Calibri" pitchFamily="34" charset="0"/>
                <a:ea typeface="Calibri" pitchFamily="34" charset="-122"/>
                <a:cs typeface="Calibri" pitchFamily="34" charset="-120"/>
              </a:rPr>
              <a:t>100 ms</a:t>
            </a:r>
            <a:endParaRPr lang="en-US" sz="5400" dirty="0"/>
          </a:p>
        </p:txBody>
      </p:sp>
      <p:sp>
        <p:nvSpPr>
          <p:cNvPr id="6" name="Text 4"/>
          <p:cNvSpPr txBox="1"/>
          <p:nvPr/>
        </p:nvSpPr>
        <p:spPr>
          <a:xfrm>
            <a:off x="822960" y="2487168"/>
            <a:ext cx="2377440" cy="320040"/>
          </a:xfrm>
          <a:prstGeom prst="rect">
            <a:avLst/>
          </a:prstGeom>
          <a:noFill/>
          <a:ln/>
        </p:spPr>
        <p:txBody>
          <a:bodyPr wrap="square" lIns="0" tIns="0" rIns="0" bIns="0" rtlCol="0" anchor="ctr"/>
          <a:lstStyle/>
          <a:p>
            <a:pPr indent="0" marL="0">
              <a:buNone/>
            </a:pPr>
            <a:r>
              <a:rPr lang="en-US" sz="1100" dirty="0">
                <a:solidFill>
                  <a:srgbClr val="7D8896"/>
                </a:solidFill>
                <a:latin typeface="Courier New" pitchFamily="34" charset="0"/>
                <a:ea typeface="Courier New" pitchFamily="34" charset="-122"/>
                <a:cs typeface="Courier New" pitchFamily="34" charset="-120"/>
              </a:rPr>
              <a:t>refresh-rate  ·  set_speed</a:t>
            </a:r>
            <a:endParaRPr lang="en-US" sz="1100" dirty="0"/>
          </a:p>
        </p:txBody>
      </p:sp>
      <p:sp>
        <p:nvSpPr>
          <p:cNvPr id="7" name="Text 5"/>
          <p:cNvSpPr txBox="1"/>
          <p:nvPr/>
        </p:nvSpPr>
        <p:spPr>
          <a:xfrm>
            <a:off x="3291840" y="1600200"/>
            <a:ext cx="2392528" cy="1508760"/>
          </a:xfrm>
          <a:prstGeom prst="rect">
            <a:avLst/>
          </a:prstGeom>
          <a:noFill/>
          <a:ln/>
        </p:spPr>
        <p:txBody>
          <a:bodyPr wrap="square" lIns="0" tIns="0" rIns="0" bIns="0" rtlCol="0" anchor="ctr"/>
          <a:lstStyle/>
          <a:p>
            <a:pPr indent="0" marL="0">
              <a:buNone/>
            </a:pPr>
            <a:r>
              <a:rPr lang="en-US" sz="1400" dirty="0">
                <a:solidFill>
                  <a:srgbClr val="E3E7EC"/>
                </a:solidFill>
                <a:latin typeface="Calibri" pitchFamily="34" charset="0"/>
                <a:ea typeface="Calibri" pitchFamily="34" charset="-122"/>
                <a:cs typeface="Calibri" pitchFamily="34" charset="-120"/>
              </a:rPr>
              <a:t>Smooth, readable scroll. Everything from 33 ms up had 0 late frames; typing stayed at ≈17 ms.</a:t>
            </a:r>
            <a:endParaRPr lang="en-US" sz="1400" dirty="0"/>
          </a:p>
        </p:txBody>
      </p:sp>
      <p:sp>
        <p:nvSpPr>
          <p:cNvPr id="8" name="Shape 6"/>
          <p:cNvSpPr/>
          <p:nvPr/>
        </p:nvSpPr>
        <p:spPr>
          <a:xfrm>
            <a:off x="6233008" y="1417320"/>
            <a:ext cx="5410048" cy="1874520"/>
          </a:xfrm>
          <a:prstGeom prst="roundRect">
            <a:avLst>
              <a:gd name="adj" fmla="val 3902"/>
            </a:avLst>
          </a:prstGeom>
          <a:solidFill>
            <a:srgbClr val="0F1216"/>
          </a:solidFill>
          <a:ln w="12700">
            <a:solidFill>
              <a:srgbClr val="0F1216"/>
            </a:solidFill>
            <a:prstDash val="solid"/>
          </a:ln>
        </p:spPr>
      </p:sp>
      <p:sp>
        <p:nvSpPr>
          <p:cNvPr id="9" name="Text 7"/>
          <p:cNvSpPr txBox="1"/>
          <p:nvPr/>
        </p:nvSpPr>
        <p:spPr>
          <a:xfrm>
            <a:off x="6507328" y="1554480"/>
            <a:ext cx="2377440" cy="914400"/>
          </a:xfrm>
          <a:prstGeom prst="rect">
            <a:avLst/>
          </a:prstGeom>
          <a:noFill/>
          <a:ln/>
        </p:spPr>
        <p:txBody>
          <a:bodyPr wrap="square" lIns="0" tIns="0" rIns="0" bIns="0" rtlCol="0" anchor="ctr"/>
          <a:lstStyle/>
          <a:p>
            <a:pPr indent="0" marL="0">
              <a:buNone/>
            </a:pPr>
            <a:r>
              <a:rPr lang="en-US" sz="5400" b="1" dirty="0">
                <a:solidFill>
                  <a:srgbClr val="F5A524"/>
                </a:solidFill>
                <a:latin typeface="Calibri" pitchFamily="34" charset="0"/>
                <a:ea typeface="Calibri" pitchFamily="34" charset="-122"/>
                <a:cs typeface="Calibri" pitchFamily="34" charset="-120"/>
              </a:rPr>
              <a:t>10 ms</a:t>
            </a:r>
            <a:endParaRPr lang="en-US" sz="5400" dirty="0"/>
          </a:p>
        </p:txBody>
      </p:sp>
      <p:sp>
        <p:nvSpPr>
          <p:cNvPr id="10" name="Text 8"/>
          <p:cNvSpPr txBox="1"/>
          <p:nvPr/>
        </p:nvSpPr>
        <p:spPr>
          <a:xfrm>
            <a:off x="6507328" y="2487168"/>
            <a:ext cx="2377440" cy="320040"/>
          </a:xfrm>
          <a:prstGeom prst="rect">
            <a:avLst/>
          </a:prstGeom>
          <a:noFill/>
          <a:ln/>
        </p:spPr>
        <p:txBody>
          <a:bodyPr wrap="square" lIns="0" tIns="0" rIns="0" bIns="0" rtlCol="0" anchor="ctr"/>
          <a:lstStyle/>
          <a:p>
            <a:pPr indent="0" marL="0">
              <a:buNone/>
            </a:pPr>
            <a:r>
              <a:rPr lang="en-US" sz="1100" dirty="0">
                <a:solidFill>
                  <a:srgbClr val="7D8896"/>
                </a:solidFill>
                <a:latin typeface="Courier New" pitchFamily="34" charset="0"/>
                <a:ea typeface="Courier New" pitchFamily="34" charset="-122"/>
                <a:cs typeface="Courier New" pitchFamily="34" charset="-120"/>
              </a:rPr>
              <a:t>polling-rate  ·  set_poll</a:t>
            </a:r>
            <a:endParaRPr lang="en-US" sz="1100" dirty="0"/>
          </a:p>
        </p:txBody>
      </p:sp>
      <p:sp>
        <p:nvSpPr>
          <p:cNvPr id="11" name="Text 9"/>
          <p:cNvSpPr txBox="1"/>
          <p:nvPr/>
        </p:nvSpPr>
        <p:spPr>
          <a:xfrm>
            <a:off x="8976208" y="1600200"/>
            <a:ext cx="2392528" cy="1508760"/>
          </a:xfrm>
          <a:prstGeom prst="rect">
            <a:avLst/>
          </a:prstGeom>
          <a:noFill/>
          <a:ln/>
        </p:spPr>
        <p:txBody>
          <a:bodyPr wrap="square" lIns="0" tIns="0" rIns="0" bIns="0" rtlCol="0" anchor="ctr"/>
          <a:lstStyle/>
          <a:p>
            <a:pPr indent="0" marL="0">
              <a:buNone/>
            </a:pPr>
            <a:r>
              <a:rPr lang="en-US" sz="1400" dirty="0">
                <a:solidFill>
                  <a:srgbClr val="E3E7EC"/>
                </a:solidFill>
                <a:latin typeface="Calibri" pitchFamily="34" charset="0"/>
                <a:ea typeface="Calibri" pitchFamily="34" charset="-122"/>
                <a:cs typeface="Calibri" pitchFamily="34" charset="-120"/>
              </a:rPr>
              <a:t>Worst typing delay 17 ms. Anything ≤ 15 ms measures the same, so going lower buys nothing.</a:t>
            </a:r>
            <a:endParaRPr lang="en-US" sz="1400" dirty="0"/>
          </a:p>
        </p:txBody>
      </p:sp>
      <p:sp>
        <p:nvSpPr>
          <p:cNvPr id="12" name="Shape 10"/>
          <p:cNvSpPr/>
          <p:nvPr/>
        </p:nvSpPr>
        <p:spPr>
          <a:xfrm>
            <a:off x="548640" y="3520440"/>
            <a:ext cx="5410048" cy="2423160"/>
          </a:xfrm>
          <a:prstGeom prst="roundRect">
            <a:avLst>
              <a:gd name="adj" fmla="val 3019"/>
            </a:avLst>
          </a:prstGeom>
          <a:solidFill>
            <a:srgbClr val="F2F4F7"/>
          </a:solidFill>
          <a:ln w="12700">
            <a:solidFill>
              <a:srgbClr val="F2F4F7"/>
            </a:solidFill>
            <a:prstDash val="solid"/>
          </a:ln>
        </p:spPr>
      </p:sp>
      <p:sp>
        <p:nvSpPr>
          <p:cNvPr id="13" name="Text 11"/>
          <p:cNvSpPr txBox="1"/>
          <p:nvPr/>
        </p:nvSpPr>
        <p:spPr>
          <a:xfrm>
            <a:off x="777240" y="3630168"/>
            <a:ext cx="4952848" cy="365760"/>
          </a:xfrm>
          <a:prstGeom prst="rect">
            <a:avLst/>
          </a:prstGeom>
          <a:noFill/>
          <a:ln/>
        </p:spPr>
        <p:txBody>
          <a:bodyPr wrap="square" lIns="0" tIns="0" rIns="0" bIns="0" rtlCol="0" anchor="ctr"/>
          <a:lstStyle/>
          <a:p>
            <a:pPr indent="0" marL="0">
              <a:buNone/>
            </a:pPr>
            <a:r>
              <a:rPr lang="en-US" sz="1700" b="1" dirty="0">
                <a:solidFill>
                  <a:srgbClr val="1D232B"/>
                </a:solidFill>
                <a:latin typeface="Calibri" pitchFamily="34" charset="0"/>
                <a:ea typeface="Calibri" pitchFamily="34" charset="-122"/>
                <a:cs typeface="Calibri" pitchFamily="34" charset="-120"/>
              </a:rPr>
              <a:t>Refresh limit</a:t>
            </a:r>
            <a:endParaRPr lang="en-US" sz="1700" dirty="0"/>
          </a:p>
        </p:txBody>
      </p:sp>
      <p:sp>
        <p:nvSpPr>
          <p:cNvPr id="14" name="Text 12"/>
          <p:cNvSpPr txBox="1"/>
          <p:nvPr/>
        </p:nvSpPr>
        <p:spPr>
          <a:xfrm>
            <a:off x="777240" y="406908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&lt; 16 ms</a:t>
            </a:r>
            <a:endParaRPr lang="en-US" sz="1200" dirty="0"/>
          </a:p>
        </p:txBody>
      </p:sp>
      <p:sp>
        <p:nvSpPr>
          <p:cNvPr id="15" name="Text 13"/>
          <p:cNvSpPr txBox="1"/>
          <p:nvPr/>
        </p:nvSpPr>
        <p:spPr>
          <a:xfrm>
            <a:off x="1920240" y="4069080"/>
            <a:ext cx="3809848" cy="77724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Capped at the 15.6 ms tick (~64 fps): nearly every frame is late and frames outpace a ~60 Hz console repaint, the zone where tearing and skipped columns appear.</a:t>
            </a:r>
            <a:endParaRPr lang="en-US" sz="1250" dirty="0"/>
          </a:p>
        </p:txBody>
      </p:sp>
      <p:sp>
        <p:nvSpPr>
          <p:cNvPr id="16" name="Text 14"/>
          <p:cNvSpPr txBox="1"/>
          <p:nvPr/>
        </p:nvSpPr>
        <p:spPr>
          <a:xfrm>
            <a:off x="777240" y="489204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16–20 ms</a:t>
            </a:r>
            <a:endParaRPr lang="en-US" sz="1200" dirty="0"/>
          </a:p>
        </p:txBody>
      </p:sp>
      <p:sp>
        <p:nvSpPr>
          <p:cNvPr id="17" name="Text 15"/>
          <p:cNvSpPr txBox="1"/>
          <p:nvPr/>
        </p:nvSpPr>
        <p:spPr>
          <a:xfrm>
            <a:off x="1920240" y="4892040"/>
            <a:ext cx="3809848" cy="45720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Intervals alternate between 15.6 and 31.2 ms, so the scroll stutters.</a:t>
            </a:r>
            <a:endParaRPr lang="en-US" sz="1250" dirty="0"/>
          </a:p>
        </p:txBody>
      </p:sp>
      <p:sp>
        <p:nvSpPr>
          <p:cNvPr id="18" name="Text 16"/>
          <p:cNvSpPr txBox="1"/>
          <p:nvPr/>
        </p:nvSpPr>
        <p:spPr>
          <a:xfrm>
            <a:off x="777240" y="539496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 33 ms</a:t>
            </a:r>
            <a:endParaRPr lang="en-US" sz="1200" dirty="0"/>
          </a:p>
        </p:txBody>
      </p:sp>
      <p:sp>
        <p:nvSpPr>
          <p:cNvPr id="19" name="Text 17"/>
          <p:cNvSpPr txBox="1"/>
          <p:nvPr/>
        </p:nvSpPr>
        <p:spPr>
          <a:xfrm>
            <a:off x="1920240" y="5394960"/>
            <a:ext cx="3809848" cy="45720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0 late frames: smooth.</a:t>
            </a:r>
            <a:endParaRPr lang="en-US" sz="1250" dirty="0"/>
          </a:p>
        </p:txBody>
      </p:sp>
      <p:sp>
        <p:nvSpPr>
          <p:cNvPr id="20" name="Shape 18"/>
          <p:cNvSpPr/>
          <p:nvPr/>
        </p:nvSpPr>
        <p:spPr>
          <a:xfrm>
            <a:off x="6233008" y="3520440"/>
            <a:ext cx="5410048" cy="2423160"/>
          </a:xfrm>
          <a:prstGeom prst="roundRect">
            <a:avLst>
              <a:gd name="adj" fmla="val 3019"/>
            </a:avLst>
          </a:prstGeom>
          <a:solidFill>
            <a:srgbClr val="F2F4F7"/>
          </a:solidFill>
          <a:ln w="12700">
            <a:solidFill>
              <a:srgbClr val="F2F4F7"/>
            </a:solidFill>
            <a:prstDash val="solid"/>
          </a:ln>
        </p:spPr>
      </p:sp>
      <p:sp>
        <p:nvSpPr>
          <p:cNvPr id="21" name="Text 19"/>
          <p:cNvSpPr txBox="1"/>
          <p:nvPr/>
        </p:nvSpPr>
        <p:spPr>
          <a:xfrm>
            <a:off x="6461608" y="3630168"/>
            <a:ext cx="4952848" cy="365760"/>
          </a:xfrm>
          <a:prstGeom prst="rect">
            <a:avLst/>
          </a:prstGeom>
          <a:noFill/>
          <a:ln/>
        </p:spPr>
        <p:txBody>
          <a:bodyPr wrap="square" lIns="0" tIns="0" rIns="0" bIns="0" rtlCol="0" anchor="ctr"/>
          <a:lstStyle/>
          <a:p>
            <a:pPr indent="0" marL="0">
              <a:buNone/>
            </a:pPr>
            <a:r>
              <a:rPr lang="en-US" sz="1700" b="1" dirty="0">
                <a:solidFill>
                  <a:srgbClr val="1D232B"/>
                </a:solidFill>
                <a:latin typeface="Calibri" pitchFamily="34" charset="0"/>
                <a:ea typeface="Calibri" pitchFamily="34" charset="-122"/>
                <a:cs typeface="Calibri" pitchFamily="34" charset="-120"/>
              </a:rPr>
              <a:t>Polling limit</a:t>
            </a:r>
            <a:endParaRPr lang="en-US" sz="1700" dirty="0"/>
          </a:p>
        </p:txBody>
      </p:sp>
      <p:sp>
        <p:nvSpPr>
          <p:cNvPr id="22" name="Text 20"/>
          <p:cNvSpPr txBox="1"/>
          <p:nvPr/>
        </p:nvSpPr>
        <p:spPr>
          <a:xfrm>
            <a:off x="6461608" y="406908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 15 ms</a:t>
            </a:r>
            <a:endParaRPr lang="en-US" sz="1200" dirty="0"/>
          </a:p>
        </p:txBody>
      </p:sp>
      <p:sp>
        <p:nvSpPr>
          <p:cNvPr id="23" name="Text 21"/>
          <p:cNvSpPr txBox="1"/>
          <p:nvPr/>
        </p:nvSpPr>
        <p:spPr>
          <a:xfrm>
            <a:off x="7604608" y="4069080"/>
            <a:ext cx="3809848" cy="45720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All identical (15.5 ms floor); lower values only add wake-ups.</a:t>
            </a:r>
            <a:endParaRPr lang="en-US" sz="1250" dirty="0"/>
          </a:p>
        </p:txBody>
      </p:sp>
      <p:sp>
        <p:nvSpPr>
          <p:cNvPr id="24" name="Text 22"/>
          <p:cNvSpPr txBox="1"/>
          <p:nvPr/>
        </p:nvSpPr>
        <p:spPr>
          <a:xfrm>
            <a:off x="6461608" y="457200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100 ms</a:t>
            </a:r>
            <a:endParaRPr lang="en-US" sz="1200" dirty="0"/>
          </a:p>
        </p:txBody>
      </p:sp>
      <p:sp>
        <p:nvSpPr>
          <p:cNvPr id="25" name="Text 23"/>
          <p:cNvSpPr txBox="1"/>
          <p:nvPr/>
        </p:nvSpPr>
        <p:spPr>
          <a:xfrm>
            <a:off x="7604608" y="4572000"/>
            <a:ext cx="3809848" cy="45720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Worst delay 112 ms: typed characters start to feel late.</a:t>
            </a:r>
            <a:endParaRPr lang="en-US" sz="1250" dirty="0"/>
          </a:p>
        </p:txBody>
      </p:sp>
      <p:sp>
        <p:nvSpPr>
          <p:cNvPr id="26" name="Text 24"/>
          <p:cNvSpPr txBox="1"/>
          <p:nvPr/>
        </p:nvSpPr>
        <p:spPr>
          <a:xfrm>
            <a:off x="6461608" y="5074920"/>
            <a:ext cx="1097280" cy="274320"/>
          </a:xfrm>
          <a:prstGeom prst="rect">
            <a:avLst/>
          </a:prstGeom>
          <a:noFill/>
          <a:ln/>
        </p:spPr>
        <p:txBody>
          <a:bodyPr wrap="square" lIns="0" tIns="0" rIns="0" bIns="0" rtlCol="0" anchor="ctr"/>
          <a:lstStyle/>
          <a:p>
            <a:pPr indent="0" marL="0">
              <a:buNone/>
            </a:pPr>
            <a:r>
              <a:rPr lang="en-US" sz="1200" b="1" dirty="0">
                <a:solidFill>
                  <a:srgbClr val="A35F00"/>
                </a:solidFill>
                <a:latin typeface="Courier New" pitchFamily="34" charset="0"/>
                <a:ea typeface="Courier New" pitchFamily="34" charset="-122"/>
                <a:cs typeface="Courier New" pitchFamily="34" charset="-120"/>
              </a:rPr>
              <a:t>≥ 200 ms</a:t>
            </a:r>
            <a:endParaRPr lang="en-US" sz="1200" dirty="0"/>
          </a:p>
        </p:txBody>
      </p:sp>
      <p:sp>
        <p:nvSpPr>
          <p:cNvPr id="27" name="Text 25"/>
          <p:cNvSpPr txBox="1"/>
          <p:nvPr/>
        </p:nvSpPr>
        <p:spPr>
          <a:xfrm>
            <a:off x="7604608" y="5074920"/>
            <a:ext cx="3809848" cy="457200"/>
          </a:xfrm>
          <a:prstGeom prst="rect">
            <a:avLst/>
          </a:prstGeom>
          <a:noFill/>
          <a:ln/>
        </p:spPr>
        <p:txBody>
          <a:bodyPr wrap="square" lIns="0" tIns="0" rIns="0" bIns="0" rtlCol="0" anchor="t"/>
          <a:lstStyle/>
          <a:p>
            <a:pPr indent="0" marL="0">
              <a:buNone/>
            </a:pPr>
            <a:r>
              <a:rPr lang="en-US" sz="1250" dirty="0">
                <a:solidFill>
                  <a:srgbClr val="1D232B"/>
                </a:solidFill>
                <a:latin typeface="Calibri" pitchFamily="34" charset="0"/>
                <a:ea typeface="Calibri" pitchFamily="34" charset="-122"/>
                <a:cs typeface="Calibri" pitchFamily="34" charset="-120"/>
              </a:rPr>
              <a:t>215–515 ms: characters arrive in bursts.</a:t>
            </a:r>
            <a:endParaRPr lang="en-US" sz="1250" dirty="0"/>
          </a:p>
        </p:txBody>
      </p:sp>
      <p:sp>
        <p:nvSpPr>
          <p:cNvPr id="28" name="Text 26"/>
          <p:cNvSpPr txBox="1"/>
          <p:nvPr/>
        </p:nvSpPr>
        <p:spPr>
          <a:xfrm>
            <a:off x="548640" y="6108192"/>
            <a:ext cx="11094415" cy="320040"/>
          </a:xfrm>
          <a:prstGeom prst="rect">
            <a:avLst/>
          </a:prstGeom>
          <a:noFill/>
          <a:ln/>
        </p:spPr>
        <p:txBody>
          <a:bodyPr wrap="square" lIns="0" tIns="0" rIns="0" bIns="0" rtlCol="0" anchor="ctr"/>
          <a:lstStyle/>
          <a:p>
            <a:pPr indent="0" marL="0">
              <a:buNone/>
            </a:pPr>
            <a:r>
              <a:rPr lang="en-US" sz="1300" i="1" dirty="0">
                <a:solidFill>
                  <a:srgbClr val="5F6B78"/>
                </a:solidFill>
                <a:latin typeface="Calibri" pitchFamily="34" charset="0"/>
                <a:ea typeface="Calibri" pitchFamily="34" charset="-122"/>
                <a:cs typeface="Calibri" pitchFamily="34" charset="-120"/>
              </a:rPr>
              <a:t>The two rates don't compete: a frame costs 0.18 ms to draw, so typing delay stayed ≈17 ms even at set_speed 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A35F00"/>
                </a:solidFill>
                <a:latin typeface="Courier New" pitchFamily="34" charset="0"/>
                <a:ea typeface="Courier New" pitchFamily="34" charset="-122"/>
                <a:cs typeface="Courier New" pitchFamily="34" charset="-120"/>
              </a:rPr>
              <a:t>BLACK-BOX TEST CASES</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1D232B"/>
                </a:solidFill>
                <a:latin typeface="Calibri" pitchFamily="34" charset="0"/>
                <a:ea typeface="Calibri" pitchFamily="34" charset="-122"/>
                <a:cs typeface="Calibri" pitchFamily="34" charset="-120"/>
              </a:rPr>
              <a:t>A test case only touches config.txt</a:t>
            </a:r>
            <a:endParaRPr lang="en-US" sz="3200" dirty="0"/>
          </a:p>
        </p:txBody>
      </p:sp>
      <p:sp>
        <p:nvSpPr>
          <p:cNvPr id="4" name="Shape 2"/>
          <p:cNvSpPr/>
          <p:nvPr/>
        </p:nvSpPr>
        <p:spPr>
          <a:xfrm>
            <a:off x="548640" y="1417320"/>
            <a:ext cx="5760720" cy="1828800"/>
          </a:xfrm>
          <a:prstGeom prst="roundRect">
            <a:avLst>
              <a:gd name="adj" fmla="val 4000"/>
            </a:avLst>
          </a:prstGeom>
          <a:solidFill>
            <a:srgbClr val="1B2028"/>
          </a:solidFill>
          <a:ln w="12700">
            <a:solidFill>
              <a:srgbClr val="1B2028"/>
            </a:solidFill>
            <a:prstDash val="solid"/>
          </a:ln>
        </p:spPr>
      </p:sp>
      <p:sp>
        <p:nvSpPr>
          <p:cNvPr id="5" name="Shape 3"/>
          <p:cNvSpPr/>
          <p:nvPr/>
        </p:nvSpPr>
        <p:spPr>
          <a:xfrm>
            <a:off x="731520" y="1563624"/>
            <a:ext cx="109728" cy="109728"/>
          </a:xfrm>
          <a:prstGeom prst="ellipse">
            <a:avLst/>
          </a:prstGeom>
          <a:solidFill>
            <a:srgbClr val="FF5F57"/>
          </a:solidFill>
          <a:ln w="12700">
            <a:solidFill>
              <a:srgbClr val="FF5F57"/>
            </a:solidFill>
            <a:prstDash val="solid"/>
          </a:ln>
        </p:spPr>
      </p:sp>
      <p:sp>
        <p:nvSpPr>
          <p:cNvPr id="6" name="Shape 4"/>
          <p:cNvSpPr/>
          <p:nvPr/>
        </p:nvSpPr>
        <p:spPr>
          <a:xfrm>
            <a:off x="914400" y="1563624"/>
            <a:ext cx="109728" cy="109728"/>
          </a:xfrm>
          <a:prstGeom prst="ellipse">
            <a:avLst/>
          </a:prstGeom>
          <a:solidFill>
            <a:srgbClr val="FEBC2E"/>
          </a:solidFill>
          <a:ln w="12700">
            <a:solidFill>
              <a:srgbClr val="FEBC2E"/>
            </a:solidFill>
            <a:prstDash val="solid"/>
          </a:ln>
        </p:spPr>
      </p:sp>
      <p:sp>
        <p:nvSpPr>
          <p:cNvPr id="7" name="Shape 5"/>
          <p:cNvSpPr/>
          <p:nvPr/>
        </p:nvSpPr>
        <p:spPr>
          <a:xfrm>
            <a:off x="1097280" y="1563624"/>
            <a:ext cx="109728" cy="109728"/>
          </a:xfrm>
          <a:prstGeom prst="ellipse">
            <a:avLst/>
          </a:prstGeom>
          <a:solidFill>
            <a:srgbClr val="28C840"/>
          </a:solidFill>
          <a:ln w="12700">
            <a:solidFill>
              <a:srgbClr val="28C840"/>
            </a:solidFill>
            <a:prstDash val="solid"/>
          </a:ln>
        </p:spPr>
      </p:sp>
      <p:sp>
        <p:nvSpPr>
          <p:cNvPr id="8" name="Text 6"/>
          <p:cNvSpPr txBox="1"/>
          <p:nvPr/>
        </p:nvSpPr>
        <p:spPr>
          <a:xfrm>
            <a:off x="1371600" y="1499616"/>
            <a:ext cx="4754880"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config.txt  (edited for a test case)</a:t>
            </a:r>
            <a:endParaRPr lang="en-US" sz="1000" dirty="0"/>
          </a:p>
        </p:txBody>
      </p:sp>
      <p:sp>
        <p:nvSpPr>
          <p:cNvPr id="9" name="Text 7"/>
          <p:cNvSpPr txBox="1"/>
          <p:nvPr/>
        </p:nvSpPr>
        <p:spPr>
          <a:xfrm>
            <a:off x="777240" y="1837944"/>
            <a:ext cx="5394960" cy="1280160"/>
          </a:xfrm>
          <a:prstGeom prst="rect">
            <a:avLst/>
          </a:prstGeom>
          <a:noFill/>
          <a:ln/>
        </p:spPr>
        <p:txBody>
          <a:bodyPr wrap="square" lIns="0" tIns="0" rIns="0" bIns="0" rtlCol="0" anchor="t"/>
          <a:lstStyle/>
          <a:p>
            <a:pPr indent="0" marL="0">
              <a:lnSpc>
                <a:spcPts val="1500"/>
              </a:lnSpc>
              <a:buNone/>
            </a:pPr>
            <a:r>
              <a:rPr lang="en-US" sz="1200" dirty="0">
                <a:solidFill>
                  <a:srgbClr val="F5A524"/>
                </a:solidFill>
                <a:latin typeface="Courier New" pitchFamily="34" charset="0"/>
                <a:ea typeface="Courier New" pitchFamily="34" charset="-122"/>
                <a:cs typeface="Courier New" pitchFamily="34" charset="-120"/>
              </a:rPr>
              <a:t>marquee_text </a:t>
            </a:r>
            <a:pPr indent="0" marL="0">
              <a:lnSpc>
                <a:spcPts val="1500"/>
              </a:lnSpc>
              <a:buNone/>
            </a:pPr>
            <a:r>
              <a:rPr lang="en-US" sz="1200" dirty="0">
                <a:solidFill>
                  <a:srgbClr val="D5DAE1"/>
                </a:solidFill>
                <a:latin typeface="Courier New" pitchFamily="34" charset="0"/>
                <a:ea typeface="Courier New" pitchFamily="34" charset="-122"/>
                <a:cs typeface="Courier New" pitchFamily="34" charset="-120"/>
              </a:rPr>
              <a:t>"CSOPESY MO3"</a:t>
            </a:r>
            <a:endParaRPr lang="en-US" sz="1200" dirty="0"/>
          </a:p>
          <a:p>
            <a:pPr indent="0" marL="0">
              <a:lnSpc>
                <a:spcPts val="1500"/>
              </a:lnSpc>
              <a:buNone/>
            </a:pPr>
            <a:r>
              <a:rPr lang="en-US" sz="1200" dirty="0">
                <a:solidFill>
                  <a:srgbClr val="F5A524"/>
                </a:solidFill>
                <a:latin typeface="Courier New" pitchFamily="34" charset="0"/>
                <a:ea typeface="Courier New" pitchFamily="34" charset="-122"/>
                <a:cs typeface="Courier New" pitchFamily="34" charset="-120"/>
              </a:rPr>
              <a:t>refresh-rate </a:t>
            </a:r>
            <a:pPr indent="0" marL="0">
              <a:lnSpc>
                <a:spcPts val="1500"/>
              </a:lnSpc>
              <a:buNone/>
            </a:pPr>
            <a:r>
              <a:rPr lang="en-US" sz="1200" dirty="0">
                <a:solidFill>
                  <a:srgbClr val="D5DAE1"/>
                </a:solidFill>
                <a:latin typeface="Courier New" pitchFamily="34" charset="0"/>
                <a:ea typeface="Courier New" pitchFamily="34" charset="-122"/>
                <a:cs typeface="Courier New" pitchFamily="34" charset="-120"/>
              </a:rPr>
              <a:t>250   </a:t>
            </a:r>
            <a:pPr indent="0" marL="0">
              <a:lnSpc>
                <a:spcPts val="1500"/>
              </a:lnSpc>
              <a:buNone/>
            </a:pPr>
            <a:r>
              <a:rPr lang="en-US" sz="1200" dirty="0">
                <a:solidFill>
                  <a:srgbClr val="7D8896"/>
                </a:solidFill>
                <a:latin typeface="Courier New" pitchFamily="34" charset="0"/>
                <a:ea typeface="Courier New" pitchFamily="34" charset="-122"/>
                <a:cs typeface="Courier New" pitchFamily="34" charset="-120"/>
              </a:rPr>
              <a:t># edited</a:t>
            </a:r>
            <a:endParaRPr lang="en-US" sz="1200" dirty="0"/>
          </a:p>
          <a:p>
            <a:pPr indent="0" marL="0">
              <a:lnSpc>
                <a:spcPts val="1500"/>
              </a:lnSpc>
              <a:buNone/>
            </a:pPr>
            <a:r>
              <a:rPr lang="en-US" sz="1200" dirty="0">
                <a:solidFill>
                  <a:srgbClr val="F5A524"/>
                </a:solidFill>
                <a:latin typeface="Courier New" pitchFamily="34" charset="0"/>
                <a:ea typeface="Courier New" pitchFamily="34" charset="-122"/>
                <a:cs typeface="Courier New" pitchFamily="34" charset="-120"/>
              </a:rPr>
              <a:t>polling-rate </a:t>
            </a:r>
            <a:pPr indent="0" marL="0">
              <a:lnSpc>
                <a:spcPts val="1500"/>
              </a:lnSpc>
              <a:buNone/>
            </a:pPr>
            <a:r>
              <a:rPr lang="en-US" sz="1200" dirty="0">
                <a:solidFill>
                  <a:srgbClr val="D5DAE1"/>
                </a:solidFill>
                <a:latin typeface="Courier New" pitchFamily="34" charset="0"/>
                <a:ea typeface="Courier New" pitchFamily="34" charset="-122"/>
                <a:cs typeface="Courier New" pitchFamily="34" charset="-120"/>
              </a:rPr>
              <a:t>20</a:t>
            </a:r>
            <a:endParaRPr lang="en-US" sz="1200" dirty="0"/>
          </a:p>
          <a:p>
            <a:pPr indent="0" marL="0">
              <a:lnSpc>
                <a:spcPts val="1500"/>
              </a:lnSpc>
              <a:buNone/>
            </a:pPr>
            <a:r>
              <a:rPr lang="en-US" sz="1200" dirty="0">
                <a:solidFill>
                  <a:srgbClr val="F5A524"/>
                </a:solidFill>
                <a:latin typeface="Courier New" pitchFamily="34" charset="0"/>
                <a:ea typeface="Courier New" pitchFamily="34" charset="-122"/>
                <a:cs typeface="Courier New" pitchFamily="34" charset="-120"/>
              </a:rPr>
              <a:t>bogus-key </a:t>
            </a:r>
            <a:pPr indent="0" marL="0">
              <a:lnSpc>
                <a:spcPts val="1500"/>
              </a:lnSpc>
              <a:buNone/>
            </a:pPr>
            <a:r>
              <a:rPr lang="en-US" sz="1200" dirty="0">
                <a:solidFill>
                  <a:srgbClr val="D5DAE1"/>
                </a:solidFill>
                <a:latin typeface="Courier New" pitchFamily="34" charset="0"/>
                <a:ea typeface="Courier New" pitchFamily="34" charset="-122"/>
                <a:cs typeface="Courier New" pitchFamily="34" charset="-120"/>
              </a:rPr>
              <a:t>5</a:t>
            </a:r>
            <a:endParaRPr lang="en-US" sz="1200" dirty="0"/>
          </a:p>
        </p:txBody>
      </p:sp>
      <p:sp>
        <p:nvSpPr>
          <p:cNvPr id="10" name="Shape 8"/>
          <p:cNvSpPr/>
          <p:nvPr/>
        </p:nvSpPr>
        <p:spPr>
          <a:xfrm>
            <a:off x="548640" y="3474720"/>
            <a:ext cx="5760720" cy="2880360"/>
          </a:xfrm>
          <a:prstGeom prst="roundRect">
            <a:avLst>
              <a:gd name="adj" fmla="val 2540"/>
            </a:avLst>
          </a:prstGeom>
          <a:solidFill>
            <a:srgbClr val="1B2028"/>
          </a:solidFill>
          <a:ln w="12700">
            <a:solidFill>
              <a:srgbClr val="1B2028"/>
            </a:solidFill>
            <a:prstDash val="solid"/>
          </a:ln>
        </p:spPr>
      </p:sp>
      <p:sp>
        <p:nvSpPr>
          <p:cNvPr id="11" name="Shape 9"/>
          <p:cNvSpPr/>
          <p:nvPr/>
        </p:nvSpPr>
        <p:spPr>
          <a:xfrm>
            <a:off x="731520" y="3621024"/>
            <a:ext cx="109728" cy="109728"/>
          </a:xfrm>
          <a:prstGeom prst="ellipse">
            <a:avLst/>
          </a:prstGeom>
          <a:solidFill>
            <a:srgbClr val="FF5F57"/>
          </a:solidFill>
          <a:ln w="12700">
            <a:solidFill>
              <a:srgbClr val="FF5F57"/>
            </a:solidFill>
            <a:prstDash val="solid"/>
          </a:ln>
        </p:spPr>
      </p:sp>
      <p:sp>
        <p:nvSpPr>
          <p:cNvPr id="12" name="Shape 10"/>
          <p:cNvSpPr/>
          <p:nvPr/>
        </p:nvSpPr>
        <p:spPr>
          <a:xfrm>
            <a:off x="914400" y="3621024"/>
            <a:ext cx="109728" cy="109728"/>
          </a:xfrm>
          <a:prstGeom prst="ellipse">
            <a:avLst/>
          </a:prstGeom>
          <a:solidFill>
            <a:srgbClr val="FEBC2E"/>
          </a:solidFill>
          <a:ln w="12700">
            <a:solidFill>
              <a:srgbClr val="FEBC2E"/>
            </a:solidFill>
            <a:prstDash val="solid"/>
          </a:ln>
        </p:spPr>
      </p:sp>
      <p:sp>
        <p:nvSpPr>
          <p:cNvPr id="13" name="Shape 11"/>
          <p:cNvSpPr/>
          <p:nvPr/>
        </p:nvSpPr>
        <p:spPr>
          <a:xfrm>
            <a:off x="1097280" y="3621024"/>
            <a:ext cx="109728" cy="109728"/>
          </a:xfrm>
          <a:prstGeom prst="ellipse">
            <a:avLst/>
          </a:prstGeom>
          <a:solidFill>
            <a:srgbClr val="28C840"/>
          </a:solidFill>
          <a:ln w="12700">
            <a:solidFill>
              <a:srgbClr val="28C840"/>
            </a:solidFill>
            <a:prstDash val="solid"/>
          </a:ln>
        </p:spPr>
      </p:sp>
      <p:sp>
        <p:nvSpPr>
          <p:cNvPr id="14" name="Text 12"/>
          <p:cNvSpPr txBox="1"/>
          <p:nvPr/>
        </p:nvSpPr>
        <p:spPr>
          <a:xfrm>
            <a:off x="1371600" y="3557016"/>
            <a:ext cx="4754880" cy="237744"/>
          </a:xfrm>
          <a:prstGeom prst="rect">
            <a:avLst/>
          </a:prstGeom>
          <a:noFill/>
          <a:ln/>
        </p:spPr>
        <p:txBody>
          <a:bodyPr wrap="square" lIns="0" tIns="0" rIns="0" bIns="0" rtlCol="0" anchor="ctr"/>
          <a:lstStyle/>
          <a:p>
            <a:pPr indent="0" marL="0">
              <a:buNone/>
            </a:pPr>
            <a:r>
              <a:rPr lang="en-US" sz="1000" dirty="0">
                <a:solidFill>
                  <a:srgbClr val="7D8896"/>
                </a:solidFill>
                <a:latin typeface="Courier New" pitchFamily="34" charset="0"/>
                <a:ea typeface="Courier New" pitchFamily="34" charset="-122"/>
                <a:cs typeface="Courier New" pitchFamily="34" charset="-120"/>
              </a:rPr>
              <a:t>what the program printed on Run</a:t>
            </a:r>
            <a:endParaRPr lang="en-US" sz="1000" dirty="0"/>
          </a:p>
        </p:txBody>
      </p:sp>
      <p:sp>
        <p:nvSpPr>
          <p:cNvPr id="15" name="Text 13"/>
          <p:cNvSpPr txBox="1"/>
          <p:nvPr/>
        </p:nvSpPr>
        <p:spPr>
          <a:xfrm>
            <a:off x="777240" y="3895344"/>
            <a:ext cx="5394960" cy="2331720"/>
          </a:xfrm>
          <a:prstGeom prst="rect">
            <a:avLst/>
          </a:prstGeom>
          <a:noFill/>
          <a:ln/>
        </p:spPr>
        <p:txBody>
          <a:bodyPr wrap="square" lIns="0" tIns="0" rIns="0" bIns="0" rtlCol="0" anchor="t"/>
          <a:lstStyle/>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Version date: 2026-09-21</a:t>
            </a:r>
            <a:endParaRPr lang="en-US" sz="950" dirty="0"/>
          </a:p>
          <a:p>
            <a:pPr indent="0" marL="0">
              <a:lnSpc>
                <a:spcPts val="1150"/>
              </a:lnSpc>
              <a:buNone/>
            </a:pPr>
            <a:r>
              <a:rPr lang="en-US" sz="950" dirty="0">
                <a:solidFill>
                  <a:srgbClr val="F5A524"/>
                </a:solidFill>
                <a:latin typeface="Courier New" pitchFamily="34" charset="0"/>
                <a:ea typeface="Courier New" pitchFamily="34" charset="-122"/>
                <a:cs typeface="Courier New" pitchFamily="34" charset="-120"/>
              </a:rPr>
              <a:t>Config: unknown setting 'bogus-key' ignored.</a:t>
            </a:r>
            <a:endParaRPr lang="en-US" sz="950" dirty="0"/>
          </a:p>
          <a:p>
            <a:pPr indent="0" marL="0">
              <a:lnSpc>
                <a:spcPts val="1150"/>
              </a:lnSpc>
              <a:buNone/>
            </a:pPr>
            <a:r>
              <a:rPr lang="en-US" sz="950" dirty="0">
                <a:solidFill>
                  <a:srgbClr val="FFFFFF"/>
                </a:solidFill>
                <a:latin typeface="Courier New" pitchFamily="34" charset="0"/>
                <a:ea typeface="Courier New" pitchFamily="34" charset="-122"/>
                <a:cs typeface="Courier New" pitchFamily="34" charset="-120"/>
              </a:rPr>
              <a:t>Config: text "CSOPESY MO3", refresh 250 ms, polling 20 ms</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 </a:t>
            </a:r>
            <a:endParaRPr lang="en-US" sz="950" dirty="0"/>
          </a:p>
          <a:p>
            <a:pPr indent="0" marL="0">
              <a:lnSpc>
                <a:spcPts val="1150"/>
              </a:lnSpc>
              <a:buNone/>
            </a:pPr>
            <a:r>
              <a:rPr lang="en-US" sz="950" dirty="0">
                <a:solidFill>
                  <a:srgbClr val="7BD88F"/>
                </a:solidFill>
                <a:latin typeface="Courier New" pitchFamily="34" charset="0"/>
                <a:ea typeface="Courier New" pitchFamily="34" charset="-122"/>
                <a:cs typeface="Courier New" pitchFamily="34" charset="-120"/>
              </a:rPr>
              <a:t>Command&gt; </a:t>
            </a:r>
            <a:pPr indent="0" marL="0">
              <a:lnSpc>
                <a:spcPts val="1150"/>
              </a:lnSpc>
              <a:buNone/>
            </a:pPr>
            <a:r>
              <a:rPr lang="en-US" sz="950" dirty="0">
                <a:solidFill>
                  <a:srgbClr val="FFFFFF"/>
                </a:solidFill>
                <a:latin typeface="Courier New" pitchFamily="34" charset="0"/>
                <a:ea typeface="Courier New" pitchFamily="34" charset="-122"/>
                <a:cs typeface="Courier New" pitchFamily="34" charset="-120"/>
              </a:rPr>
              <a:t>start_marquee</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Marquee animation started.</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 </a:t>
            </a:r>
            <a:endParaRPr lang="en-US" sz="950" dirty="0"/>
          </a:p>
          <a:p>
            <a:pPr indent="0" marL="0">
              <a:lnSpc>
                <a:spcPts val="1150"/>
              </a:lnSpc>
              <a:buNone/>
            </a:pPr>
            <a:r>
              <a:rPr lang="en-US" sz="950" dirty="0">
                <a:solidFill>
                  <a:srgbClr val="7BD88F"/>
                </a:solidFill>
                <a:latin typeface="Courier New" pitchFamily="34" charset="0"/>
                <a:ea typeface="Courier New" pitchFamily="34" charset="-122"/>
                <a:cs typeface="Courier New" pitchFamily="34" charset="-120"/>
              </a:rPr>
              <a:t>Command&gt; </a:t>
            </a:r>
            <a:pPr indent="0" marL="0">
              <a:lnSpc>
                <a:spcPts val="1150"/>
              </a:lnSpc>
              <a:buNone/>
            </a:pPr>
            <a:r>
              <a:rPr lang="en-US" sz="950" dirty="0">
                <a:solidFill>
                  <a:srgbClr val="FFFFFF"/>
                </a:solidFill>
                <a:latin typeface="Courier New" pitchFamily="34" charset="0"/>
                <a:ea typeface="Courier New" pitchFamily="34" charset="-122"/>
                <a:cs typeface="Courier New" pitchFamily="34" charset="-120"/>
              </a:rPr>
              <a:t>stats reset</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Statistics reset.</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 </a:t>
            </a:r>
            <a:endParaRPr lang="en-US" sz="950" dirty="0"/>
          </a:p>
          <a:p>
            <a:pPr indent="0" marL="0">
              <a:lnSpc>
                <a:spcPts val="1150"/>
              </a:lnSpc>
              <a:buNone/>
            </a:pPr>
            <a:r>
              <a:rPr lang="en-US" sz="950" dirty="0">
                <a:solidFill>
                  <a:srgbClr val="7BD88F"/>
                </a:solidFill>
                <a:latin typeface="Courier New" pitchFamily="34" charset="0"/>
                <a:ea typeface="Courier New" pitchFamily="34" charset="-122"/>
                <a:cs typeface="Courier New" pitchFamily="34" charset="-120"/>
              </a:rPr>
              <a:t>Command&gt; </a:t>
            </a:r>
            <a:pPr indent="0" marL="0">
              <a:lnSpc>
                <a:spcPts val="1150"/>
              </a:lnSpc>
              <a:buNone/>
            </a:pPr>
            <a:r>
              <a:rPr lang="en-US" sz="950" dirty="0">
                <a:solidFill>
                  <a:srgbClr val="FFFFFF"/>
                </a:solidFill>
                <a:latin typeface="Courier New" pitchFamily="34" charset="0"/>
                <a:ea typeface="Courier New" pitchFamily="34" charset="-122"/>
                <a:cs typeface="Courier New" pitchFamily="34" charset="-120"/>
              </a:rPr>
              <a:t>stats</a:t>
            </a:r>
            <a:endParaRPr lang="en-US" sz="950" dirty="0"/>
          </a:p>
          <a:p>
            <a:pPr indent="0" marL="0">
              <a:lnSpc>
                <a:spcPts val="1150"/>
              </a:lnSpc>
              <a:buNone/>
            </a:pPr>
            <a:r>
              <a:rPr lang="en-US" sz="950" dirty="0">
                <a:solidFill>
                  <a:srgbClr val="D5DAE1"/>
                </a:solidFill>
                <a:latin typeface="Courier New" pitchFamily="34" charset="0"/>
                <a:ea typeface="Courier New" pitchFamily="34" charset="-122"/>
                <a:cs typeface="Courier New" pitchFamily="34" charset="-120"/>
              </a:rPr>
              <a:t>Refresh : set 250 ms | measured avg 249.97, max 252.92, last 252.27 ms</a:t>
            </a:r>
            <a:endParaRPr lang="en-US" sz="950" dirty="0"/>
          </a:p>
        </p:txBody>
      </p:sp>
      <p:sp>
        <p:nvSpPr>
          <p:cNvPr id="16" name="Shape 14"/>
          <p:cNvSpPr/>
          <p:nvPr/>
        </p:nvSpPr>
        <p:spPr>
          <a:xfrm>
            <a:off x="6675120" y="1481328"/>
            <a:ext cx="384048" cy="384048"/>
          </a:xfrm>
          <a:prstGeom prst="ellipse">
            <a:avLst/>
          </a:prstGeom>
          <a:solidFill>
            <a:srgbClr val="1D232B"/>
          </a:solidFill>
          <a:ln w="12700">
            <a:solidFill>
              <a:srgbClr val="1D232B"/>
            </a:solidFill>
            <a:prstDash val="solid"/>
          </a:ln>
        </p:spPr>
      </p:sp>
      <p:sp>
        <p:nvSpPr>
          <p:cNvPr id="17" name="Text 15"/>
          <p:cNvSpPr txBox="1"/>
          <p:nvPr/>
        </p:nvSpPr>
        <p:spPr>
          <a:xfrm>
            <a:off x="667512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8" name="Text 16"/>
          <p:cNvSpPr txBox="1"/>
          <p:nvPr/>
        </p:nvSpPr>
        <p:spPr>
          <a:xfrm>
            <a:off x="7242048" y="1463040"/>
            <a:ext cx="4401007" cy="114300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Edit config.txt</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In the IDE or Notepad++, the only file the quiz allows to change. Keys: marquee-text, refresh-rate, polling-rate ("_" and "-" are interchangeable).</a:t>
            </a:r>
            <a:endParaRPr lang="en-US" sz="1500" dirty="0"/>
          </a:p>
        </p:txBody>
      </p:sp>
      <p:sp>
        <p:nvSpPr>
          <p:cNvPr id="19" name="Shape 17"/>
          <p:cNvSpPr/>
          <p:nvPr/>
        </p:nvSpPr>
        <p:spPr>
          <a:xfrm>
            <a:off x="6675120" y="2761488"/>
            <a:ext cx="384048" cy="384048"/>
          </a:xfrm>
          <a:prstGeom prst="ellipse">
            <a:avLst/>
          </a:prstGeom>
          <a:solidFill>
            <a:srgbClr val="1D232B"/>
          </a:solidFill>
          <a:ln w="12700">
            <a:solidFill>
              <a:srgbClr val="1D232B"/>
            </a:solidFill>
            <a:prstDash val="solid"/>
          </a:ln>
        </p:spPr>
      </p:sp>
      <p:sp>
        <p:nvSpPr>
          <p:cNvPr id="20" name="Text 18"/>
          <p:cNvSpPr txBox="1"/>
          <p:nvPr/>
        </p:nvSpPr>
        <p:spPr>
          <a:xfrm>
            <a:off x="6675120" y="2761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21" name="Text 19"/>
          <p:cNvSpPr txBox="1"/>
          <p:nvPr/>
        </p:nvSpPr>
        <p:spPr>
          <a:xfrm>
            <a:off x="7242048" y="2743200"/>
            <a:ext cx="4401007" cy="114300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Press Run/Debug</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The file is read once at startup from the working directory (the Visual Studio project folder) or next to the .exe. No code change is needed.</a:t>
            </a:r>
            <a:endParaRPr lang="en-US" sz="1500" dirty="0"/>
          </a:p>
        </p:txBody>
      </p:sp>
      <p:sp>
        <p:nvSpPr>
          <p:cNvPr id="22" name="Shape 20"/>
          <p:cNvSpPr/>
          <p:nvPr/>
        </p:nvSpPr>
        <p:spPr>
          <a:xfrm>
            <a:off x="6675120" y="4041648"/>
            <a:ext cx="384048" cy="384048"/>
          </a:xfrm>
          <a:prstGeom prst="ellipse">
            <a:avLst/>
          </a:prstGeom>
          <a:solidFill>
            <a:srgbClr val="1D232B"/>
          </a:solidFill>
          <a:ln w="12700">
            <a:solidFill>
              <a:srgbClr val="1D232B"/>
            </a:solidFill>
            <a:prstDash val="solid"/>
          </a:ln>
        </p:spPr>
      </p:sp>
      <p:sp>
        <p:nvSpPr>
          <p:cNvPr id="23" name="Text 21"/>
          <p:cNvSpPr txBox="1"/>
          <p:nvPr/>
        </p:nvSpPr>
        <p:spPr>
          <a:xfrm>
            <a:off x="667512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4" name="Text 22"/>
          <p:cNvSpPr txBox="1"/>
          <p:nvPr/>
        </p:nvSpPr>
        <p:spPr>
          <a:xfrm>
            <a:off x="7242048" y="4023360"/>
            <a:ext cx="4401007" cy="1143000"/>
          </a:xfrm>
          <a:prstGeom prst="rect">
            <a:avLst/>
          </a:prstGeom>
          <a:noFill/>
          <a:ln/>
        </p:spPr>
        <p:txBody>
          <a:bodyPr wrap="square" lIns="0" tIns="0" rIns="0" bIns="0" rtlCol="0" anchor="t"/>
          <a:lstStyle/>
          <a:p>
            <a:pPr indent="0" marL="0">
              <a:spcAft>
                <a:spcPts val="200"/>
              </a:spcAft>
              <a:buNone/>
            </a:pPr>
            <a:r>
              <a:rPr lang="en-US" sz="1500" b="1" dirty="0">
                <a:solidFill>
                  <a:srgbClr val="1D232B"/>
                </a:solidFill>
                <a:latin typeface="Calibri" pitchFamily="34" charset="0"/>
                <a:ea typeface="Calibri" pitchFamily="34" charset="-122"/>
                <a:cs typeface="Calibri" pitchFamily="34" charset="-120"/>
              </a:rPr>
              <a:t>Check the header</a:t>
            </a:r>
            <a:endParaRPr lang="en-US" sz="1500" dirty="0"/>
          </a:p>
          <a:p>
            <a:pPr indent="0" marL="0">
              <a:spcAft>
                <a:spcPts val="200"/>
              </a:spcAft>
              <a:buNone/>
            </a:pPr>
            <a:r>
              <a:rPr lang="en-US" sz="1300" dirty="0">
                <a:solidFill>
                  <a:srgbClr val="5F6B78"/>
                </a:solidFill>
                <a:latin typeface="Calibri" pitchFamily="34" charset="0"/>
                <a:ea typeface="Calibri" pitchFamily="34" charset="-122"/>
                <a:cs typeface="Calibri" pitchFamily="34" charset="-120"/>
              </a:rPr>
              <a:t>The Config: line shows the values in force. An unknown key or unusable value prints a note and keeps the default, so a typo is visible before the test starts.</a:t>
            </a:r>
            <a:endParaRPr lang="en-US" sz="1500" dirty="0"/>
          </a:p>
        </p:txBody>
      </p:sp>
      <p:sp>
        <p:nvSpPr>
          <p:cNvPr id="25" name="Text 23"/>
          <p:cNvSpPr txBox="1"/>
          <p:nvPr/>
        </p:nvSpPr>
        <p:spPr>
          <a:xfrm>
            <a:off x="6675120" y="5394960"/>
            <a:ext cx="4967935" cy="457200"/>
          </a:xfrm>
          <a:prstGeom prst="rect">
            <a:avLst/>
          </a:prstGeom>
          <a:noFill/>
          <a:ln/>
        </p:spPr>
        <p:txBody>
          <a:bodyPr wrap="square" lIns="0" tIns="0" rIns="0" bIns="0" rtlCol="0" anchor="ctr"/>
          <a:lstStyle/>
          <a:p>
            <a:pPr indent="0" marL="0">
              <a:buNone/>
            </a:pPr>
            <a:r>
              <a:rPr lang="en-US" sz="1250" i="1" dirty="0">
                <a:solidFill>
                  <a:srgbClr val="5F6B78"/>
                </a:solidFill>
                <a:latin typeface="Calibri" pitchFamily="34" charset="0"/>
                <a:ea typeface="Calibri" pitchFamily="34" charset="-122"/>
                <a:cs typeface="Calibri" pitchFamily="34" charset="-120"/>
              </a:rPr>
              <a:t>set_text and set_speed still override the file for the rest of that run.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216"/>
        </a:solidFill>
      </p:bgPr>
    </p:bg>
    <p:spTree>
      <p:nvGrpSpPr>
        <p:cNvPr id="1" name=""/>
        <p:cNvGrpSpPr/>
        <p:nvPr/>
      </p:nvGrpSpPr>
      <p:grpSpPr>
        <a:xfrm>
          <a:off x="0" y="0"/>
          <a:ext cx="0" cy="0"/>
          <a:chOff x="0" y="0"/>
          <a:chExt cx="0" cy="0"/>
        </a:xfrm>
      </p:grpSpPr>
      <p:sp>
        <p:nvSpPr>
          <p:cNvPr id="2" name="Text 0"/>
          <p:cNvSpPr txBox="1"/>
          <p:nvPr/>
        </p:nvSpPr>
        <p:spPr>
          <a:xfrm>
            <a:off x="548640" y="329184"/>
            <a:ext cx="11094415" cy="274320"/>
          </a:xfrm>
          <a:prstGeom prst="rect">
            <a:avLst/>
          </a:prstGeom>
          <a:noFill/>
          <a:ln/>
        </p:spPr>
        <p:txBody>
          <a:bodyPr wrap="square" lIns="0" tIns="0" rIns="0" bIns="0" rtlCol="0" anchor="ctr"/>
          <a:lstStyle/>
          <a:p>
            <a:pPr indent="0" marL="0">
              <a:buNone/>
            </a:pPr>
            <a:r>
              <a:rPr lang="en-US" sz="1200" b="1" spc="100" kern="0" dirty="0">
                <a:solidFill>
                  <a:srgbClr val="F5A524"/>
                </a:solidFill>
                <a:latin typeface="Courier New" pitchFamily="34" charset="0"/>
                <a:ea typeface="Courier New" pitchFamily="34" charset="-122"/>
                <a:cs typeface="Courier New" pitchFamily="34" charset="-120"/>
              </a:rPr>
              <a:t>SPECIFICATION CHECKLIST</a:t>
            </a:r>
            <a:endParaRPr lang="en-US" sz="1200" dirty="0"/>
          </a:p>
        </p:txBody>
      </p:sp>
      <p:sp>
        <p:nvSpPr>
          <p:cNvPr id="3" name="Text 1"/>
          <p:cNvSpPr txBox="1"/>
          <p:nvPr/>
        </p:nvSpPr>
        <p:spPr>
          <a:xfrm>
            <a:off x="548640" y="603504"/>
            <a:ext cx="11094415" cy="621792"/>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Every required feature, verified on the running build</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663440"/>
                <a:gridCol w="5120640"/>
                <a:gridCol w="1307592"/>
              </a:tblGrid>
              <a:tr h="429768">
                <a:tc>
                  <a:txBody>
                    <a:bodyPr/>
                    <a:lstStyle/>
                    <a:p>
                      <a:pPr indent="0" marL="0">
                        <a:buNone/>
                      </a:pPr>
                      <a:r>
                        <a:rPr lang="en-US" sz="1250" b="1" dirty="0">
                          <a:solidFill>
                            <a:srgbClr val="0F1216"/>
                          </a:solidFill>
                          <a:latin typeface="Calibri" pitchFamily="34" charset="0"/>
                          <a:ea typeface="Calibri" pitchFamily="34" charset="-122"/>
                          <a:cs typeface="Calibri" pitchFamily="34" charset="-120"/>
                        </a:rPr>
                        <a:t>Requirement (MO3 specification)</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F5A524"/>
                    </a:solidFill>
                  </a:tcPr>
                </a:tc>
                <a:tc>
                  <a:txBody>
                    <a:bodyPr/>
                    <a:lstStyle/>
                    <a:p>
                      <a:pPr indent="0" marL="0">
                        <a:buNone/>
                      </a:pPr>
                      <a:r>
                        <a:rPr lang="en-US" sz="1250" b="1" dirty="0">
                          <a:solidFill>
                            <a:srgbClr val="0F1216"/>
                          </a:solidFill>
                          <a:latin typeface="Calibri" pitchFamily="34" charset="0"/>
                          <a:ea typeface="Calibri" pitchFamily="34" charset="-122"/>
                          <a:cs typeface="Calibri" pitchFamily="34" charset="-120"/>
                        </a:rPr>
                        <a:t>Implementation</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F5A524"/>
                    </a:solidFill>
                  </a:tcPr>
                </a:tc>
                <a:tc>
                  <a:txBody>
                    <a:bodyPr/>
                    <a:lstStyle/>
                    <a:p>
                      <a:pPr algn="ctr" indent="0" marL="0">
                        <a:buNone/>
                      </a:pPr>
                      <a:r>
                        <a:rPr lang="en-US" sz="1250" b="1" dirty="0">
                          <a:solidFill>
                            <a:srgbClr val="0F1216"/>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F5A524"/>
                    </a:solidFill>
                  </a:tcPr>
                </a:tc>
              </a:tr>
              <a:tr h="429768">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Main menu console: Welcome, Group developer, Version date, Command&gt;</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header_text(), MarqueeConsole::run()</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Text or ASCII-graphics marquee</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AsciiFont + Marquee thread, bottom 8 rows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Commands change the marquee's behaviour</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set_text, set_speed, start / stop_marquee</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b="1" dirty="0">
                          <a:solidFill>
                            <a:srgbClr val="F5A524"/>
                          </a:solidFill>
                          <a:latin typeface="Courier New" pitchFamily="34" charset="0"/>
                          <a:ea typeface="Courier New" pitchFamily="34" charset="-122"/>
                          <a:cs typeface="Courier New" pitchFamily="34" charset="-120"/>
                        </a:rPr>
                        <a:t>help</a:t>
                      </a:r>
                      <a:endParaRPr lang="en-US" sz="1250" dirty="0">
                        <a:latin typeface="Courier New" charset="0"/>
                        <a:ea typeface="Courier New" charset="0"/>
                        <a:cs typeface="Courier New"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help_text(): the six commands and descriptions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b="1" dirty="0">
                          <a:solidFill>
                            <a:srgbClr val="F5A524"/>
                          </a:solidFill>
                          <a:latin typeface="Courier New" pitchFamily="34" charset="0"/>
                          <a:ea typeface="Courier New" pitchFamily="34" charset="-122"/>
                          <a:cs typeface="Courier New" pitchFamily="34" charset="-120"/>
                        </a:rPr>
                        <a:t>start_marquee  /  stop_marquee</a:t>
                      </a:r>
                      <a:endParaRPr lang="en-US" sz="1250" dirty="0">
                        <a:latin typeface="Courier New" charset="0"/>
                        <a:ea typeface="Courier New" charset="0"/>
                        <a:cs typeface="Courier New"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Marquee::start() / stop(), rows cleared on stop</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b="1" dirty="0">
                          <a:solidFill>
                            <a:srgbClr val="F5A524"/>
                          </a:solidFill>
                          <a:latin typeface="Courier New" pitchFamily="34" charset="0"/>
                          <a:ea typeface="Courier New" pitchFamily="34" charset="-122"/>
                          <a:cs typeface="Courier New" pitchFamily="34" charset="-120"/>
                        </a:rPr>
                        <a:t>set_text</a:t>
                      </a:r>
                      <a:endParaRPr lang="en-US" sz="1250" dirty="0">
                        <a:latin typeface="Courier New" charset="0"/>
                        <a:ea typeface="Courier New" charset="0"/>
                        <a:cs typeface="Courier New"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Saved under a mutex; shown on the next frame</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b="1" dirty="0">
                          <a:solidFill>
                            <a:srgbClr val="F5A524"/>
                          </a:solidFill>
                          <a:latin typeface="Courier New" pitchFamily="34" charset="0"/>
                          <a:ea typeface="Courier New" pitchFamily="34" charset="-122"/>
                          <a:cs typeface="Courier New" pitchFamily="34" charset="-120"/>
                        </a:rPr>
                        <a:t>set_speed</a:t>
                      </a:r>
                      <a:endParaRPr lang="en-US" sz="1250" dirty="0">
                        <a:latin typeface="Courier New" charset="0"/>
                        <a:ea typeface="Courier New" charset="0"/>
                        <a:cs typeface="Courier New"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parse_milliseconds() → refresh_ms_ (15.6 ms floor)</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b="1" dirty="0">
                          <a:solidFill>
                            <a:srgbClr val="F5A524"/>
                          </a:solidFill>
                          <a:latin typeface="Courier New" pitchFamily="34" charset="0"/>
                          <a:ea typeface="Courier New" pitchFamily="34" charset="-122"/>
                          <a:cs typeface="Courier New" pitchFamily="34" charset="-120"/>
                        </a:rPr>
                        <a:t>exit</a:t>
                      </a:r>
                      <a:endParaRPr lang="en-US" sz="1250" dirty="0">
                        <a:latin typeface="Courier New" charset="0"/>
                        <a:ea typeface="Courier New" charset="0"/>
                        <a:cs typeface="Courier New"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Loop ends, thread joined, window restored (exit code 0)</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r h="429768">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Only config.txt changes between test cases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indent="0" marL="0">
                        <a:buNone/>
                      </a:pPr>
                      <a:r>
                        <a:rPr lang="en-US" sz="1250" dirty="0">
                          <a:solidFill>
                            <a:srgbClr val="D5DAE1"/>
                          </a:solidFill>
                          <a:latin typeface="Calibri" pitchFamily="34" charset="0"/>
                          <a:ea typeface="Calibri" pitchFamily="34" charset="-122"/>
                          <a:cs typeface="Calibri" pitchFamily="34" charset="-120"/>
                        </a:rPr>
                        <a:t>marquee-text, refresh-rate, polling-rate read at startup</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c>
                  <a:txBody>
                    <a:bodyPr/>
                    <a:lstStyle/>
                    <a:p>
                      <a:pPr algn="ctr" indent="0" marL="0">
                        <a:buNone/>
                      </a:pPr>
                      <a:r>
                        <a:rPr lang="en-US" sz="1250" b="1" dirty="0">
                          <a:solidFill>
                            <a:srgbClr val="7BD88F"/>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9525" cap="flat" cmpd="sng" algn="ctr">
                      <a:solidFill>
                        <a:srgbClr val="2E3540"/>
                      </a:solidFill>
                      <a:prstDash val="solid"/>
                      <a:round/>
                      <a:headEnd type="none" w="med" len="med"/>
                      <a:tailEnd type="none" w="med" len="med"/>
                    </a:lnL>
                    <a:lnR w="9525" cap="flat" cmpd="sng" algn="ctr">
                      <a:solidFill>
                        <a:srgbClr val="2E3540"/>
                      </a:solidFill>
                      <a:prstDash val="solid"/>
                      <a:round/>
                      <a:headEnd type="none" w="med" len="med"/>
                      <a:tailEnd type="none" w="med" len="med"/>
                    </a:lnR>
                    <a:lnT w="9525" cap="flat" cmpd="sng" algn="ctr">
                      <a:solidFill>
                        <a:srgbClr val="2E3540"/>
                      </a:solidFill>
                      <a:prstDash val="solid"/>
                      <a:round/>
                      <a:headEnd type="none" w="med" len="med"/>
                      <a:tailEnd type="none" w="med" len="med"/>
                    </a:lnT>
                    <a:lnB w="9525" cap="flat" cmpd="sng" algn="ctr">
                      <a:solidFill>
                        <a:srgbClr val="2E3540"/>
                      </a:solidFill>
                      <a:prstDash val="solid"/>
                      <a:round/>
                      <a:headEnd type="none" w="med" len="med"/>
                      <a:tailEnd type="none" w="med" len="med"/>
                    </a:lnB>
                    <a:solidFill>
                      <a:srgbClr val="1B2028"/>
                    </a:solidFill>
                  </a:tcPr>
                </a:tc>
              </a:tr>
            </a:tbl>
          </a:graphicData>
        </a:graphic>
      </p:graphicFrame>
      <p:sp>
        <p:nvSpPr>
          <p:cNvPr id="5" name="Text 2"/>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200" i="1" dirty="0">
                <a:solidFill>
                  <a:srgbClr val="AEB6C1"/>
                </a:solidFill>
                <a:latin typeface="Calibri" pitchFamily="34" charset="0"/>
                <a:ea typeface="Calibri" pitchFamily="34" charset="-122"/>
                <a:cs typeface="Calibri" pitchFamily="34" charset="-120"/>
              </a:rPr>
              <a:t>Checked by driving the compiled console with injected keystrokes and reading the screen buffer back (Windows 11, 120 × 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Marquee Console - Technical Report</dc:title>
  <dc:subject>PptxGenJS Presentation</dc:subject>
  <dc:creator>Obcena, Suerte, Cordero, Eleydo</dc:creator>
  <cp:lastModifiedBy>Obcena, Suerte, Cordero, Eleydo</cp:lastModifiedBy>
  <cp:revision>1</cp:revision>
  <dcterms:created xsi:type="dcterms:W3CDTF">2026-09-27T07:30:05Z</dcterms:created>
  <dcterms:modified xsi:type="dcterms:W3CDTF">2026-09-27T07:30:05Z</dcterms:modified>
</cp:coreProperties>
</file>